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F394F4-255B-86FA-6893-06A97E001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CF478AF-8E0D-5D8E-149C-3E8F6FED7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C3ABD9-CEF0-DAD5-87D6-6EC3A28D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0F64-13FB-4EEE-8E1D-D814BF75C8BA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B5CA37-5427-8C90-851A-40147C82F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05B9C4-C60F-7B38-8C17-16B2273CA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CF63-8A8D-4DD1-9336-0A6E0D87FC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7485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78F02E-AC68-68F1-DA4D-4EBC1F8F6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2E2D005-4E7B-F973-DC67-9B1893FB4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C17FD2-E31A-DA16-D2EF-A4CDC5595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0F64-13FB-4EEE-8E1D-D814BF75C8BA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F2975C-47E9-167F-1AE0-0ABD64A56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B6D19E-92AC-B867-F0B6-EB02A088E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CF63-8A8D-4DD1-9336-0A6E0D87FC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8972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422A87-FEF7-9ABA-07C9-26F1E212B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45E60E-FCD9-D184-3FA8-845A0F05E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1134CB-845F-D908-9C32-A40253FCF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0F64-13FB-4EEE-8E1D-D814BF75C8BA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14728F-901E-40D3-60F6-08BE7986C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586623-0168-52CD-CC58-648A2C631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CF63-8A8D-4DD1-9336-0A6E0D87FC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326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386766-4E32-FE0A-9B55-85575D4A4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B7F8F1-E49C-9EEF-3F82-ED9C5C60F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EF3A775-733B-7448-9F2A-DD6A85749B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8AD6775-9398-4D5E-4CA6-CEB235C0C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0F64-13FB-4EEE-8E1D-D814BF75C8BA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82208BB-A183-06D2-C8DA-3F9E71408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26C029F-70C9-F68D-0ED3-25176EE3F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CF63-8A8D-4DD1-9336-0A6E0D87FC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00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206420-5D9F-19A9-A557-1952B2C6A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186F74-D9AA-98EB-461C-6DF15D290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7551BB9-7BA7-4906-379B-DD69C6BCC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7B1838B-D416-2AAB-BF86-0032DAAFC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471B0B5-2351-3811-1F4E-343F85638A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C70E3F9-48BB-21A2-A5F9-04B76C7AC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0F64-13FB-4EEE-8E1D-D814BF75C8BA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14A5DE4-1BD3-CB81-0524-2FD6E191A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6ACE7A2-9EB2-F63F-BAD6-5241AF19C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CF63-8A8D-4DD1-9336-0A6E0D87FC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55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C5D999-DCB8-F02E-8EC7-EE6B201BC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FDA8B99-5EA8-BCFC-BD94-86431BC82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0F64-13FB-4EEE-8E1D-D814BF75C8BA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5A90C96-7AC3-409C-A148-EC2668C72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9C598A0-B81F-A90E-A06C-E2356BB36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CF63-8A8D-4DD1-9336-0A6E0D87FC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6248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4EFB391F-7906-4020-AC4D-9671880C2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0F64-13FB-4EEE-8E1D-D814BF75C8BA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2559609-43BD-E37B-0B27-3BB534162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85B850E-8292-76DE-465E-6C31C7C8A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CF63-8A8D-4DD1-9336-0A6E0D87FC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33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DA4C9E-EA14-3240-EB03-0DA2EA2D9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22F212-3CEA-573A-DC68-F478197A7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753068E-797B-B62A-5FCC-44C244392E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8643FD4-8244-7F00-CC03-37B804B15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0F64-13FB-4EEE-8E1D-D814BF75C8BA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4953174-8203-4599-05F5-F130B1C0E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BFDA67D-BE21-D2D9-934D-A03C35D35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CF63-8A8D-4DD1-9336-0A6E0D87FC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4517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579519-8162-1236-530C-4FD1B96F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F066225-587A-0E0B-93CD-B680FAD955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347C2B9-D6AF-49CC-4CB6-79A63A12D6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41F267F-AA2C-4D1D-5077-0DB29270C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0F64-13FB-4EEE-8E1D-D814BF75C8BA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65AF04-95E4-A503-D28A-80D59AFE5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58A718-1C94-0906-9505-64495A31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CF63-8A8D-4DD1-9336-0A6E0D87FC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620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94EEFB-E6AA-46C4-28FE-0A3100D63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845A71D-5F89-837A-1698-3D6B75245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1298BF-8B38-402C-19DD-DF0A6431B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0F64-13FB-4EEE-8E1D-D814BF75C8BA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0E005C8-2282-EB4E-6CFD-5DB2AC592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B0F4AC-B190-3410-0C2E-5B3BCC67B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CF63-8A8D-4DD1-9336-0A6E0D87FC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709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8BA30AE-C9AB-02D8-ABC2-D83A8D6EE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EB0C37C-D7DE-8A6D-52AF-99F09A331F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00C9F3-13FC-C8AF-2517-4FDCE81A5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CF0F64-13FB-4EEE-8E1D-D814BF75C8BA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2888BA-FACB-07CB-408D-9A276F525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161B5D-2679-9991-8FD0-5AFDA8823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FCF63-8A8D-4DD1-9336-0A6E0D87FC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427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F0701B7-A18C-29C2-C31E-A36483F97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D0A3451-A4A4-C59D-CAEC-08BDF4D7D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09B86F-ADE3-653B-B0D9-CF988DFDC6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F0F64-13FB-4EEE-8E1D-D814BF75C8BA}" type="datetimeFigureOut">
              <a:rPr lang="zh-TW" altLang="en-US" smtClean="0"/>
              <a:t>2025/11/26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EE3B3B3-E95C-998B-A063-F28EB0A47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FD3918-F43F-2BA1-0F29-D54FBFDB8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FCF63-8A8D-4DD1-9336-0A6E0D87FC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884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vWxV2BEd_U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Original-ResNet-18-Architecture_fig1_336642248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36860F-40A1-911B-A011-63F8C7C409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9000"/>
            <a:ext cx="9144000" cy="12700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Midterm Project Theme1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392C20C-1715-920B-3466-9F6DA707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73600"/>
            <a:ext cx="9144000" cy="584200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N26141931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電機所 呂建篁</a:t>
            </a:r>
          </a:p>
        </p:txBody>
      </p:sp>
    </p:spTree>
    <p:extLst>
      <p:ext uri="{BB962C8B-B14F-4D97-AF65-F5344CB8AC3E}">
        <p14:creationId xmlns:p14="http://schemas.microsoft.com/office/powerpoint/2010/main" val="1442982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72DBB7-4A19-16EF-16A4-6660E892E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link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6467F6-5F94-B9BC-C750-9F9629F8E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>
                <a:hlinkClick r:id="rId2"/>
              </a:rPr>
              <a:t>https://youtu.be/vWxV2BEd_U4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19636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BE80EB-C56B-992A-32AF-B463A9B9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4192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B21D86-6BDA-F365-A79F-3FF0E76408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1367"/>
            <a:ext cx="10515600" cy="4871508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Dataset</a:t>
            </a: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Model</a:t>
            </a: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Experiment Result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&amp;Model Performance Analysis</a:t>
            </a: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Conclusion &amp; Future Work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489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067C1A-3997-7608-93A2-A389D7747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025022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Dataset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9C9C030-3EEE-B0B4-3C9E-BF379AD2A19B}"/>
              </a:ext>
            </a:extLst>
          </p:cNvPr>
          <p:cNvSpPr txBox="1"/>
          <p:nvPr/>
        </p:nvSpPr>
        <p:spPr>
          <a:xfrm>
            <a:off x="643465" y="1394354"/>
            <a:ext cx="9338735" cy="58601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0480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├── train/</a:t>
            </a:r>
            <a:endParaRPr lang="zh-TW" altLang="zh-TW" sz="18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indent="30480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│   ├── 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paper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paper01-000.png - paper07-119.png 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(840</a:t>
            </a:r>
            <a:r>
              <a:rPr lang="zh-TW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en-US" altLang="zh-TW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indent="304800" algn="just"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│   ├── rock/rock01-000.png - rock07-k03-119.png(840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zh-TW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indent="304800" algn="just"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│   ├── scissors/scissors01-000.png - testscissors03-119.png(840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zh-TW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indent="30480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├── test/</a:t>
            </a:r>
            <a:endParaRPr lang="zh-TW" altLang="zh-TW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indent="30480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│   ├── paper/testpaper01-00.png - testpaper04-30.png (124</a:t>
            </a:r>
            <a:r>
              <a:rPr lang="zh-TW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indent="304800" algn="just"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│   ├── rock/testrock01-00.png - testrock04-30.png(124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zh-TW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indent="304800" algn="just"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│   ├── scissors/testscissors01-00.png - testscissors04-30.png(124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indent="304800" algn="just"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├── validation/</a:t>
            </a:r>
            <a:endParaRPr lang="zh-TW" altLang="zh-TW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indent="30480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│   ├── paper/paper1.png - paper-hires2.png (11</a:t>
            </a:r>
            <a:r>
              <a:rPr lang="zh-TW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indent="304800" algn="just"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│   ├── rock/rock1.png - rock-hires2.png(11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zh-TW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indent="304800" algn="just">
              <a:lnSpc>
                <a:spcPct val="115000"/>
              </a:lnSpc>
              <a:spcAft>
                <a:spcPts val="800"/>
              </a:spcAft>
            </a:pP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│   ├── scissors/scissors1.png - scissors-hires2.png(11</a:t>
            </a:r>
            <a:r>
              <a:rPr lang="zh-TW" altLang="en-US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indent="304800" algn="just">
              <a:lnSpc>
                <a:spcPct val="115000"/>
              </a:lnSpc>
              <a:spcAft>
                <a:spcPts val="800"/>
              </a:spcAft>
            </a:pPr>
            <a:endParaRPr lang="zh-TW" altLang="zh-TW" kern="1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indent="304800" algn="just">
              <a:lnSpc>
                <a:spcPct val="115000"/>
              </a:lnSpc>
              <a:spcAft>
                <a:spcPts val="800"/>
              </a:spcAft>
              <a:buNone/>
            </a:pPr>
            <a:endParaRPr lang="zh-TW" altLang="zh-TW" sz="1800" kern="100" dirty="0"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2F22B77-2E6F-BDE6-8271-9F63D3A00A58}"/>
              </a:ext>
            </a:extLst>
          </p:cNvPr>
          <p:cNvSpPr txBox="1"/>
          <p:nvPr/>
        </p:nvSpPr>
        <p:spPr>
          <a:xfrm>
            <a:off x="948265" y="1025022"/>
            <a:ext cx="4343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Rock Paper Scissors Dataset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(2925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張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CF9701-BB77-6040-0C12-134D262EB283}"/>
              </a:ext>
            </a:extLst>
          </p:cNvPr>
          <p:cNvSpPr/>
          <p:nvPr/>
        </p:nvSpPr>
        <p:spPr>
          <a:xfrm>
            <a:off x="9415692" y="139700"/>
            <a:ext cx="2242909" cy="651462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CF61C4A-01BD-89D8-C8D6-F49C09217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076" y="540829"/>
            <a:ext cx="1274719" cy="12747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95F9032C-8E77-058B-2A1F-3667AFA740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076" y="2636882"/>
            <a:ext cx="1274719" cy="12747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F1BEBBB1-E816-6528-ECDD-32B782C632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076" y="4705303"/>
            <a:ext cx="1274719" cy="12747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39CB10E7-7A57-3CA7-9B4A-1EEEDDF9022E}"/>
              </a:ext>
            </a:extLst>
          </p:cNvPr>
          <p:cNvSpPr txBox="1"/>
          <p:nvPr/>
        </p:nvSpPr>
        <p:spPr>
          <a:xfrm>
            <a:off x="9902862" y="1783365"/>
            <a:ext cx="1312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paper</a:t>
            </a:r>
            <a:endParaRPr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D9E621F-6FFF-2A23-4AB0-EEBA2ED40B22}"/>
              </a:ext>
            </a:extLst>
          </p:cNvPr>
          <p:cNvSpPr txBox="1"/>
          <p:nvPr/>
        </p:nvSpPr>
        <p:spPr>
          <a:xfrm>
            <a:off x="9896268" y="3887801"/>
            <a:ext cx="1312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rock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AFBFFA6-00E5-822E-15E8-EB379F2B81E5}"/>
              </a:ext>
            </a:extLst>
          </p:cNvPr>
          <p:cNvSpPr txBox="1"/>
          <p:nvPr/>
        </p:nvSpPr>
        <p:spPr>
          <a:xfrm>
            <a:off x="9765035" y="5992237"/>
            <a:ext cx="157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scissors</a:t>
            </a:r>
            <a:endParaRPr lang="zh-TW" altLang="en-US" dirty="0"/>
          </a:p>
        </p:txBody>
      </p:sp>
      <p:sp>
        <p:nvSpPr>
          <p:cNvPr id="21" name="手繪多邊形: 圖案 20">
            <a:extLst>
              <a:ext uri="{FF2B5EF4-FFF2-40B4-BE49-F238E27FC236}">
                <a16:creationId xmlns:a16="http://schemas.microsoft.com/office/drawing/2014/main" id="{AB657438-3C39-E79A-3E95-C6C8A81A2DD4}"/>
              </a:ext>
            </a:extLst>
          </p:cNvPr>
          <p:cNvSpPr/>
          <p:nvPr/>
        </p:nvSpPr>
        <p:spPr>
          <a:xfrm>
            <a:off x="9800771" y="526506"/>
            <a:ext cx="113212" cy="139337"/>
          </a:xfrm>
          <a:custGeom>
            <a:avLst/>
            <a:gdLst>
              <a:gd name="connsiteX0" fmla="*/ 113212 w 113212"/>
              <a:gd name="connsiteY0" fmla="*/ 0 h 139337"/>
              <a:gd name="connsiteX1" fmla="*/ 0 w 113212"/>
              <a:gd name="connsiteY1" fmla="*/ 139337 h 139337"/>
              <a:gd name="connsiteX2" fmla="*/ 0 w 113212"/>
              <a:gd name="connsiteY2" fmla="*/ 139337 h 139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212" h="139337">
                <a:moveTo>
                  <a:pt x="113212" y="0"/>
                </a:moveTo>
                <a:lnTo>
                  <a:pt x="0" y="139337"/>
                </a:lnTo>
                <a:lnTo>
                  <a:pt x="0" y="139337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手繪多邊形: 圖案 21">
            <a:extLst>
              <a:ext uri="{FF2B5EF4-FFF2-40B4-BE49-F238E27FC236}">
                <a16:creationId xmlns:a16="http://schemas.microsoft.com/office/drawing/2014/main" id="{1BC24551-F5A3-5861-8D99-4E326535E2FC}"/>
              </a:ext>
            </a:extLst>
          </p:cNvPr>
          <p:cNvSpPr/>
          <p:nvPr/>
        </p:nvSpPr>
        <p:spPr>
          <a:xfrm rot="5400000">
            <a:off x="9786261" y="1695382"/>
            <a:ext cx="113212" cy="139337"/>
          </a:xfrm>
          <a:custGeom>
            <a:avLst/>
            <a:gdLst>
              <a:gd name="connsiteX0" fmla="*/ 113212 w 113212"/>
              <a:gd name="connsiteY0" fmla="*/ 0 h 139337"/>
              <a:gd name="connsiteX1" fmla="*/ 0 w 113212"/>
              <a:gd name="connsiteY1" fmla="*/ 139337 h 139337"/>
              <a:gd name="connsiteX2" fmla="*/ 0 w 113212"/>
              <a:gd name="connsiteY2" fmla="*/ 139337 h 139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212" h="139337">
                <a:moveTo>
                  <a:pt x="113212" y="0"/>
                </a:moveTo>
                <a:lnTo>
                  <a:pt x="0" y="139337"/>
                </a:lnTo>
                <a:lnTo>
                  <a:pt x="0" y="139337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手繪多邊形: 圖案 22">
            <a:extLst>
              <a:ext uri="{FF2B5EF4-FFF2-40B4-BE49-F238E27FC236}">
                <a16:creationId xmlns:a16="http://schemas.microsoft.com/office/drawing/2014/main" id="{6890C76C-BAF5-E16E-2D78-DB64FBFAC3D8}"/>
              </a:ext>
            </a:extLst>
          </p:cNvPr>
          <p:cNvSpPr/>
          <p:nvPr/>
        </p:nvSpPr>
        <p:spPr>
          <a:xfrm rot="5400000">
            <a:off x="11075854" y="425318"/>
            <a:ext cx="113212" cy="139337"/>
          </a:xfrm>
          <a:custGeom>
            <a:avLst/>
            <a:gdLst>
              <a:gd name="connsiteX0" fmla="*/ 113212 w 113212"/>
              <a:gd name="connsiteY0" fmla="*/ 0 h 139337"/>
              <a:gd name="connsiteX1" fmla="*/ 0 w 113212"/>
              <a:gd name="connsiteY1" fmla="*/ 139337 h 139337"/>
              <a:gd name="connsiteX2" fmla="*/ 0 w 113212"/>
              <a:gd name="connsiteY2" fmla="*/ 139337 h 139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212" h="139337">
                <a:moveTo>
                  <a:pt x="113212" y="0"/>
                </a:moveTo>
                <a:lnTo>
                  <a:pt x="0" y="139337"/>
                </a:lnTo>
                <a:lnTo>
                  <a:pt x="0" y="139337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手繪多邊形: 圖案 23">
            <a:extLst>
              <a:ext uri="{FF2B5EF4-FFF2-40B4-BE49-F238E27FC236}">
                <a16:creationId xmlns:a16="http://schemas.microsoft.com/office/drawing/2014/main" id="{4D850048-A1DC-9A8D-81DC-9E69DDA9097C}"/>
              </a:ext>
            </a:extLst>
          </p:cNvPr>
          <p:cNvSpPr/>
          <p:nvPr/>
        </p:nvSpPr>
        <p:spPr>
          <a:xfrm rot="10619986">
            <a:off x="9905427" y="419433"/>
            <a:ext cx="113212" cy="139337"/>
          </a:xfrm>
          <a:custGeom>
            <a:avLst/>
            <a:gdLst>
              <a:gd name="connsiteX0" fmla="*/ 113212 w 113212"/>
              <a:gd name="connsiteY0" fmla="*/ 0 h 139337"/>
              <a:gd name="connsiteX1" fmla="*/ 0 w 113212"/>
              <a:gd name="connsiteY1" fmla="*/ 139337 h 139337"/>
              <a:gd name="connsiteX2" fmla="*/ 0 w 113212"/>
              <a:gd name="connsiteY2" fmla="*/ 139337 h 139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212" h="139337">
                <a:moveTo>
                  <a:pt x="113212" y="0"/>
                </a:moveTo>
                <a:lnTo>
                  <a:pt x="0" y="139337"/>
                </a:lnTo>
                <a:lnTo>
                  <a:pt x="0" y="139337"/>
                </a:ln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74D88B63-DA52-203D-5EE1-9161CC4BBED4}"/>
              </a:ext>
            </a:extLst>
          </p:cNvPr>
          <p:cNvSpPr txBox="1"/>
          <p:nvPr/>
        </p:nvSpPr>
        <p:spPr>
          <a:xfrm>
            <a:off x="9861254" y="203680"/>
            <a:ext cx="1312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300</a:t>
            </a:r>
            <a:endParaRPr lang="zh-TW" altLang="en-US" dirty="0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AEE38CA-848F-B643-DD95-4B796B45E301}"/>
              </a:ext>
            </a:extLst>
          </p:cNvPr>
          <p:cNvSpPr txBox="1"/>
          <p:nvPr/>
        </p:nvSpPr>
        <p:spPr>
          <a:xfrm>
            <a:off x="9335588" y="1016456"/>
            <a:ext cx="657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kern="1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3530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DDA32A-713D-A4E4-E771-000002973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Preprocessing &amp;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Augmentation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DCC0071-D85A-3751-3479-58DB9E5C0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515600" cy="53371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訓練資料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(training data)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Resize(300)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：先縮放圖片。</a:t>
            </a:r>
          </a:p>
          <a:p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RandomCrop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(300)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：隨機裁成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300×300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RandomHorizontalFlip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(0.5)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50% 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機率左右翻轉。</a:t>
            </a:r>
          </a:p>
          <a:p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RandomRotation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(±20°)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：隨機小角度旋轉。</a:t>
            </a:r>
          </a:p>
          <a:p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ColorJitter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：隨機改亮度、對比、飽和度、色調。</a:t>
            </a:r>
          </a:p>
          <a:p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RandomAffine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(translate=0.05, shear=5)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：小幅平移＋扭斜。</a:t>
            </a:r>
          </a:p>
          <a:p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ToTensor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：轉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tensor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，值變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0~1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Normalize(IMAGENET_MEAN, IMAGENET_STD)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：用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ImageNet 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均值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標準差標準化。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驗證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 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測試資料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(validation/testing data)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Resize(300) → </a:t>
            </a:r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CenterCrop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(300)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：固定縮放＋中心裁切。</a:t>
            </a:r>
          </a:p>
          <a:p>
            <a:r>
              <a:rPr lang="en-US" altLang="zh-TW" sz="18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ToTensor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 → Normalize(...)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：同訓練的張量化＋標準化，不做隨機增強。</a:t>
            </a:r>
          </a:p>
        </p:txBody>
      </p:sp>
    </p:spTree>
    <p:extLst>
      <p:ext uri="{BB962C8B-B14F-4D97-AF65-F5344CB8AC3E}">
        <p14:creationId xmlns:p14="http://schemas.microsoft.com/office/powerpoint/2010/main" val="2596931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22F422-E17A-8214-C178-150DEC89E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Model(ResNet18)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CC4DC19-F2C9-7868-9EFB-659F48A123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04" y="1178457"/>
            <a:ext cx="9949392" cy="268048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21B91EE7-40C0-3A44-AB2D-771A0EE0BAD4}"/>
              </a:ext>
            </a:extLst>
          </p:cNvPr>
          <p:cNvSpPr txBox="1"/>
          <p:nvPr/>
        </p:nvSpPr>
        <p:spPr>
          <a:xfrm>
            <a:off x="1522728" y="3970872"/>
            <a:ext cx="90118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https://www.researchgate.net/figure/Original-ResNet-18-Architecture_fig1_336642248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0F49B5D-CDDC-2F07-8478-B38025FAF850}"/>
              </a:ext>
            </a:extLst>
          </p:cNvPr>
          <p:cNvSpPr txBox="1"/>
          <p:nvPr/>
        </p:nvSpPr>
        <p:spPr>
          <a:xfrm>
            <a:off x="1456751" y="4795003"/>
            <a:ext cx="90778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Loss：CrossEntropyLoss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Optimizer：Adam</a:t>
            </a: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zh-TW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Scheduler：StepLR</a:t>
            </a:r>
            <a:endParaRPr kumimoji="0" lang="en-US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Hyper-parameter: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lr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=1e-3, e</a:t>
            </a:r>
            <a:r>
              <a:rPr kumimoji="0" lang="en-US" altLang="zh-TW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poch=10,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= 4</a:t>
            </a:r>
            <a:endParaRPr kumimoji="0" lang="zh-TW" altLang="zh-TW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310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4B5975-C359-294C-1A3D-E26EAF1EA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78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Model Performance Analysis(Experiment)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B5D9344-A26B-65EA-6CF6-5B32A51EFF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74" y="1971023"/>
            <a:ext cx="3633727" cy="291595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2E8081F-4E64-8A80-EBCD-E4DEC7469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5686" y="1963209"/>
            <a:ext cx="3820117" cy="301762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68BDA53-46D7-AC53-A0F6-FAA8B4A4AD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288" y="1967116"/>
            <a:ext cx="3694238" cy="30137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575092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6B4087-5376-F90B-B7F4-73E2E130D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Conclusion &amp; Future Work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9DA412-0BA2-3047-98D7-F61753EE8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8733"/>
            <a:ext cx="10456333" cy="48598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model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使用預訓練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ResNet18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搭配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augmentation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，在此模型架構下很快收斂，訓練、驗證與測試皆達到近乎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100% 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的準確率，顯示此架構足以解決目前任務，但也反映資料情境較單純。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Future Work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改用或蒐集真實手勢照片（複雜背景、不同光線與拍攝角度），檢驗效能；必要時可加入 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domain adaptation </a:t>
            </a: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或擴充資料，以提升模型的泛化能力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zh-TW" altLang="en-US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068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512</Words>
  <Application>Microsoft Office PowerPoint</Application>
  <PresentationFormat>寬螢幕</PresentationFormat>
  <Paragraphs>59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Wingdings</vt:lpstr>
      <vt:lpstr>Office 佈景主題</vt:lpstr>
      <vt:lpstr>Midterm Project Theme1</vt:lpstr>
      <vt:lpstr>Video link</vt:lpstr>
      <vt:lpstr>Outline</vt:lpstr>
      <vt:lpstr>Dataset</vt:lpstr>
      <vt:lpstr>Preprocessing &amp; Augmentation</vt:lpstr>
      <vt:lpstr>Model(ResNet18)</vt:lpstr>
      <vt:lpstr>Model Performance Analysis(Experiment)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5</cp:revision>
  <dcterms:created xsi:type="dcterms:W3CDTF">2025-11-26T01:34:59Z</dcterms:created>
  <dcterms:modified xsi:type="dcterms:W3CDTF">2025-11-26T02:54:49Z</dcterms:modified>
</cp:coreProperties>
</file>