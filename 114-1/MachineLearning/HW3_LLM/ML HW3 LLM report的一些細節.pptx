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26" y="-1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51f049c1f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51f049c1f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51f049c1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51f049c1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07817F1D-102F-83CF-0DCF-914D6ADBF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51f049c1f_0_6:notes">
            <a:extLst>
              <a:ext uri="{FF2B5EF4-FFF2-40B4-BE49-F238E27FC236}">
                <a16:creationId xmlns:a16="http://schemas.microsoft.com/office/drawing/2014/main" id="{2C466F61-E0EF-7239-42A4-606BCD721B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51f049c1f_0_6:notes">
            <a:extLst>
              <a:ext uri="{FF2B5EF4-FFF2-40B4-BE49-F238E27FC236}">
                <a16:creationId xmlns:a16="http://schemas.microsoft.com/office/drawing/2014/main" id="{07C00467-DEB4-9789-A527-94CF0868D9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6835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aw.githubusercontent.com/yasaisen/LLMTutorial/main/demo_dataset/ncku_wikipedia_2510080406.json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aw.githubusercontent.com/yasaisen/LLMTutorial/main/demo_dataset/ncku_wikipedia_2510080406.json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HW4 LLM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Requirements</a:t>
            </a:r>
            <a:endParaRPr b="1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</a:t>
            </a:r>
            <a:r>
              <a:rPr lang="zh-TW" b="1"/>
              <a:t>At least compare result with and without RAG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- Must have </a:t>
            </a:r>
            <a:r>
              <a:rPr lang="zh-TW" b="1"/>
              <a:t>evaluation metrics</a:t>
            </a:r>
            <a:r>
              <a:rPr lang="zh-TW"/>
              <a:t>: BLEU, ROUGE, BERTScore...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- Prepare your own dataset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2. Bonus: compare different models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3. Bonus: try different RAG pipeline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-73152"/>
            <a:ext cx="8520600" cy="4754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/>
              <a:t>Submit and Grading</a:t>
            </a:r>
            <a:endParaRPr b="1"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347472"/>
            <a:ext cx="8520600" cy="50718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1. Jupyter notebook / code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dirty="0"/>
              <a:t>2. Report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dirty="0"/>
              <a:t>    - Describe your dataset - 20% (</a:t>
            </a:r>
            <a:r>
              <a:rPr lang="zh-TW" u="sng" dirty="0">
                <a:solidFill>
                  <a:schemeClr val="hlink"/>
                </a:solidFill>
                <a:hlinkClick r:id="rId3"/>
              </a:rPr>
              <a:t>notebook example</a:t>
            </a:r>
            <a:r>
              <a:rPr lang="zh-TW" dirty="0"/>
              <a:t>)</a:t>
            </a:r>
            <a:r>
              <a:rPr lang="zh-TW" altLang="en-US" dirty="0"/>
              <a:t> </a:t>
            </a:r>
            <a:endParaRPr lang="en-US" altLang="zh-TW" dirty="0"/>
          </a:p>
          <a:p>
            <a:pPr marL="457200" lvl="1" indent="0">
              <a:spcBef>
                <a:spcPts val="1200"/>
              </a:spcBef>
              <a:buNone/>
            </a:pPr>
            <a:r>
              <a:rPr lang="en-US" altLang="zh-TW" dirty="0"/>
              <a:t>1.</a:t>
            </a:r>
            <a:r>
              <a:rPr lang="en-US" altLang="zh-TW" dirty="0">
                <a:solidFill>
                  <a:srgbClr val="FF0000"/>
                </a:solidFill>
              </a:rPr>
              <a:t>Dataset reference</a:t>
            </a:r>
            <a:r>
              <a:rPr lang="zh-TW" altLang="en-US" dirty="0">
                <a:solidFill>
                  <a:srgbClr val="FF0000"/>
                </a:solidFill>
              </a:rPr>
              <a:t>資料集參考來源 </a:t>
            </a:r>
            <a:endParaRPr lang="en-US" altLang="zh-TW" dirty="0">
              <a:solidFill>
                <a:srgbClr val="FF0000"/>
              </a:solidFill>
            </a:endParaRPr>
          </a:p>
          <a:p>
            <a:pPr marL="457200" lvl="1" indent="0">
              <a:spcBef>
                <a:spcPts val="1200"/>
              </a:spcBef>
              <a:buNone/>
            </a:pPr>
            <a:r>
              <a:rPr lang="en-US" altLang="zh-TW" dirty="0">
                <a:solidFill>
                  <a:schemeClr val="tx1"/>
                </a:solidFill>
              </a:rPr>
              <a:t>2.</a:t>
            </a:r>
            <a:r>
              <a:rPr lang="en-US" altLang="zh-TW" dirty="0">
                <a:solidFill>
                  <a:srgbClr val="FF0000"/>
                </a:solidFill>
              </a:rPr>
              <a:t>Dataset Content</a:t>
            </a:r>
            <a:endParaRPr dirty="0"/>
          </a:p>
          <a:p>
            <a:pPr marL="0" lvl="0" indent="0">
              <a:spcBef>
                <a:spcPts val="1200"/>
              </a:spcBef>
              <a:buNone/>
            </a:pPr>
            <a:r>
              <a:rPr lang="zh-TW" dirty="0"/>
              <a:t>    - Result without RAG - 20%</a:t>
            </a:r>
            <a:r>
              <a:rPr lang="en-US" altLang="zh-TW" dirty="0"/>
              <a:t> 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en-US" altLang="zh-TW" dirty="0">
                <a:solidFill>
                  <a:schemeClr val="tx1"/>
                </a:solidFill>
              </a:rPr>
              <a:t>1.</a:t>
            </a:r>
            <a:r>
              <a:rPr lang="zh-TW" altLang="en-US" dirty="0">
                <a:solidFill>
                  <a:srgbClr val="FF0000"/>
                </a:solidFill>
              </a:rPr>
              <a:t>從</a:t>
            </a:r>
            <a:r>
              <a:rPr lang="en-US" altLang="zh-TW" dirty="0">
                <a:solidFill>
                  <a:srgbClr val="FF0000"/>
                </a:solidFill>
              </a:rPr>
              <a:t>Hugging face</a:t>
            </a:r>
            <a:r>
              <a:rPr lang="zh-TW" altLang="en-US" dirty="0">
                <a:solidFill>
                  <a:srgbClr val="FF0000"/>
                </a:solidFill>
              </a:rPr>
              <a:t>挑的</a:t>
            </a:r>
            <a:r>
              <a:rPr lang="en-US" altLang="zh-TW" dirty="0">
                <a:solidFill>
                  <a:srgbClr val="FF0000"/>
                </a:solidFill>
              </a:rPr>
              <a:t>Generative Model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en-US" altLang="zh-TW" dirty="0">
                <a:solidFill>
                  <a:schemeClr val="tx1"/>
                </a:solidFill>
              </a:rPr>
              <a:t>2.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Result</a:t>
            </a:r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與無添加</a:t>
            </a:r>
            <a:r>
              <a:rPr lang="en-US" altLang="zh-TW" dirty="0">
                <a:solidFill>
                  <a:srgbClr val="FF0000"/>
                </a:solidFill>
              </a:rPr>
              <a:t>RAG</a:t>
            </a:r>
            <a:r>
              <a:rPr lang="zh-TW" altLang="en-US" dirty="0">
                <a:solidFill>
                  <a:srgbClr val="FF0000"/>
                </a:solidFill>
              </a:rPr>
              <a:t>的</a:t>
            </a:r>
            <a:r>
              <a:rPr lang="en-US" altLang="zh-TW" dirty="0">
                <a:solidFill>
                  <a:srgbClr val="FF0000"/>
                </a:solidFill>
              </a:rPr>
              <a:t>Generative Model</a:t>
            </a:r>
            <a:r>
              <a:rPr lang="zh-TW" altLang="en-US" dirty="0">
                <a:solidFill>
                  <a:srgbClr val="FF0000"/>
                </a:solidFill>
              </a:rPr>
              <a:t>互動結果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endParaRPr dirty="0">
              <a:solidFill>
                <a:schemeClr val="tx1"/>
              </a:solidFill>
            </a:endParaRPr>
          </a:p>
          <a:p>
            <a:pPr marL="0" lvl="0" indent="0">
              <a:spcBef>
                <a:spcPts val="1200"/>
              </a:spcBef>
              <a:buNone/>
            </a:pPr>
            <a:r>
              <a:rPr lang="zh-TW" dirty="0"/>
              <a:t>    - Result with RAG - 20%</a:t>
            </a:r>
            <a:r>
              <a:rPr lang="en-US" altLang="zh-TW" dirty="0"/>
              <a:t> 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en-US" altLang="zh-TW" dirty="0">
                <a:solidFill>
                  <a:schemeClr val="tx1"/>
                </a:solidFill>
              </a:rPr>
              <a:t>1.</a:t>
            </a:r>
            <a:r>
              <a:rPr lang="zh-TW" altLang="en-US" dirty="0">
                <a:solidFill>
                  <a:srgbClr val="FF0000"/>
                </a:solidFill>
              </a:rPr>
              <a:t>從</a:t>
            </a:r>
            <a:r>
              <a:rPr lang="en-US" altLang="zh-TW" dirty="0">
                <a:solidFill>
                  <a:srgbClr val="FF0000"/>
                </a:solidFill>
              </a:rPr>
              <a:t>Hugging face</a:t>
            </a:r>
            <a:r>
              <a:rPr lang="zh-TW" altLang="en-US" dirty="0">
                <a:solidFill>
                  <a:srgbClr val="FF0000"/>
                </a:solidFill>
              </a:rPr>
              <a:t>挑的</a:t>
            </a:r>
            <a:r>
              <a:rPr lang="en-US" altLang="zh-TW" dirty="0">
                <a:solidFill>
                  <a:srgbClr val="FF0000"/>
                </a:solidFill>
              </a:rPr>
              <a:t>Generative Model</a:t>
            </a:r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需列在報告裡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endParaRPr lang="en-US" altLang="zh-TW" dirty="0">
              <a:solidFill>
                <a:srgbClr val="FF0000"/>
              </a:solidFill>
            </a:endParaRPr>
          </a:p>
          <a:p>
            <a:pPr marL="457200" lvl="1" indent="0">
              <a:spcBef>
                <a:spcPts val="1200"/>
              </a:spcBef>
              <a:buNone/>
            </a:pPr>
            <a:r>
              <a:rPr lang="en-US" altLang="zh-TW" dirty="0">
                <a:solidFill>
                  <a:schemeClr val="tx1"/>
                </a:solidFill>
              </a:rPr>
              <a:t>2.</a:t>
            </a:r>
            <a:r>
              <a:rPr lang="en-US" altLang="zh-TW" dirty="0">
                <a:solidFill>
                  <a:srgbClr val="FF0000"/>
                </a:solidFill>
              </a:rPr>
              <a:t>Result</a:t>
            </a:r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有添加</a:t>
            </a:r>
            <a:r>
              <a:rPr lang="en-US" altLang="zh-TW" dirty="0">
                <a:solidFill>
                  <a:srgbClr val="FF0000"/>
                </a:solidFill>
              </a:rPr>
              <a:t>RAG</a:t>
            </a:r>
            <a:r>
              <a:rPr lang="zh-TW" altLang="en-US" dirty="0">
                <a:solidFill>
                  <a:srgbClr val="FF0000"/>
                </a:solidFill>
              </a:rPr>
              <a:t>的</a:t>
            </a:r>
            <a:r>
              <a:rPr lang="en-US" altLang="zh-TW" dirty="0">
                <a:solidFill>
                  <a:srgbClr val="FF0000"/>
                </a:solidFill>
              </a:rPr>
              <a:t>Generative Model</a:t>
            </a:r>
            <a:r>
              <a:rPr lang="zh-TW" altLang="en-US" dirty="0">
                <a:solidFill>
                  <a:srgbClr val="FF0000"/>
                </a:solidFill>
              </a:rPr>
              <a:t>互動結果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endParaRPr dirty="0"/>
          </a:p>
          <a:p>
            <a:pPr marL="0" lvl="0" indent="0">
              <a:spcBef>
                <a:spcPts val="1200"/>
              </a:spcBef>
              <a:buNone/>
            </a:pPr>
            <a:r>
              <a:rPr lang="zh-TW" dirty="0"/>
              <a:t>    - Compare the result (w/o RAG) - 20%</a:t>
            </a:r>
            <a:r>
              <a:rPr lang="zh-TW" altLang="en-US" dirty="0"/>
              <a:t> </a:t>
            </a:r>
            <a:endParaRPr lang="en-US" altLang="zh-TW" dirty="0"/>
          </a:p>
          <a:p>
            <a:pPr marL="457200" lvl="1" indent="0">
              <a:spcBef>
                <a:spcPts val="1200"/>
              </a:spcBef>
              <a:buNone/>
            </a:pPr>
            <a:r>
              <a:rPr lang="en-US" altLang="zh-TW" dirty="0"/>
              <a:t>1.</a:t>
            </a:r>
            <a:r>
              <a:rPr lang="zh-TW" altLang="en-US" dirty="0">
                <a:solidFill>
                  <a:srgbClr val="FF0000"/>
                </a:solidFill>
              </a:rPr>
              <a:t>從</a:t>
            </a:r>
            <a:r>
              <a:rPr lang="en-US" altLang="zh-TW" dirty="0">
                <a:solidFill>
                  <a:srgbClr val="FF0000"/>
                </a:solidFill>
              </a:rPr>
              <a:t>Hugging face</a:t>
            </a:r>
            <a:r>
              <a:rPr lang="zh-TW" altLang="en-US" dirty="0">
                <a:solidFill>
                  <a:srgbClr val="FF0000"/>
                </a:solidFill>
              </a:rPr>
              <a:t>挑的</a:t>
            </a:r>
            <a:r>
              <a:rPr lang="en-US" altLang="zh-TW" dirty="0">
                <a:solidFill>
                  <a:srgbClr val="FF0000"/>
                </a:solidFill>
              </a:rPr>
              <a:t>Generative Model</a:t>
            </a:r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需列在報告裡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en-US" altLang="zh-TW" dirty="0">
                <a:solidFill>
                  <a:schemeClr val="tx1"/>
                </a:solidFill>
              </a:rPr>
              <a:t>2.</a:t>
            </a:r>
            <a:r>
              <a:rPr lang="en-US" altLang="zh-TW" dirty="0">
                <a:solidFill>
                  <a:srgbClr val="FF0000"/>
                </a:solidFill>
              </a:rPr>
              <a:t>with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RAG</a:t>
            </a:r>
            <a:r>
              <a:rPr lang="zh-TW" altLang="en-US" dirty="0">
                <a:solidFill>
                  <a:srgbClr val="FF0000"/>
                </a:solidFill>
              </a:rPr>
              <a:t>和</a:t>
            </a:r>
            <a:r>
              <a:rPr lang="en-US" altLang="zh-TW" dirty="0">
                <a:solidFill>
                  <a:srgbClr val="FF0000"/>
                </a:solidFill>
              </a:rPr>
              <a:t>without RAG</a:t>
            </a:r>
            <a:r>
              <a:rPr lang="zh-TW" altLang="en-US" dirty="0">
                <a:solidFill>
                  <a:srgbClr val="FF0000"/>
                </a:solidFill>
              </a:rPr>
              <a:t>在各語言模型之評估指標的結果且要羅列正確答案</a:t>
            </a:r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因為要計算評估指標的數值會用到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en-US" altLang="zh-TW" dirty="0"/>
              <a:t>3.</a:t>
            </a:r>
            <a:r>
              <a:rPr lang="zh-TW" altLang="en-US" dirty="0"/>
              <a:t> </a:t>
            </a:r>
            <a:r>
              <a:rPr lang="zh-TW" altLang="en-US" dirty="0">
                <a:solidFill>
                  <a:srgbClr val="FF0000"/>
                </a:solidFill>
              </a:rPr>
              <a:t>適當對圖表做結論</a:t>
            </a:r>
            <a:endParaRPr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dirty="0"/>
              <a:t>    - Bonus: Different model comparison - 10%</a:t>
            </a:r>
            <a:r>
              <a:rPr lang="zh-TW" altLang="en-US" dirty="0"/>
              <a:t> </a:t>
            </a:r>
            <a:r>
              <a:rPr lang="en-US" altLang="zh-TW" dirty="0"/>
              <a:t>()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(Bonus</a:t>
            </a:r>
            <a:r>
              <a:rPr lang="zh-TW" altLang="en-US" dirty="0">
                <a:solidFill>
                  <a:srgbClr val="FF0000"/>
                </a:solidFill>
              </a:rPr>
              <a:t>見下頁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endParaRPr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dirty="0"/>
              <a:t>    - Bonus: Describe your own RAG pipeline / Compare with sample notebook - 10%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365AAC5C-198B-D7C8-095B-645D0C367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BBFF9ED5-CE70-B006-8B9E-CD620F7101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/>
              <a:t>Submit and Grading</a:t>
            </a:r>
            <a:endParaRPr b="1" dirty="0"/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3194320B-A253-FF59-55EC-8A32592A1B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495772"/>
            <a:ext cx="8520600" cy="47102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1. Jupyter notebook / code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dirty="0"/>
              <a:t>2. Report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dirty="0"/>
              <a:t>    - Describe your dataset - 20% (</a:t>
            </a:r>
            <a:r>
              <a:rPr lang="zh-TW" u="sng" dirty="0">
                <a:solidFill>
                  <a:schemeClr val="hlink"/>
                </a:solidFill>
                <a:hlinkClick r:id="rId3"/>
              </a:rPr>
              <a:t>notebook example</a:t>
            </a:r>
            <a:r>
              <a:rPr lang="zh-TW" dirty="0"/>
              <a:t>)</a:t>
            </a:r>
            <a:r>
              <a:rPr lang="zh-TW" altLang="en-US" dirty="0"/>
              <a:t> </a:t>
            </a:r>
            <a:endParaRPr lang="en-US" altLang="zh-TW" dirty="0"/>
          </a:p>
          <a:p>
            <a:pPr marL="457200" lvl="1" indent="0">
              <a:spcBef>
                <a:spcPts val="1200"/>
              </a:spcBef>
              <a:buNone/>
            </a:pPr>
            <a:r>
              <a:rPr lang="zh-TW" dirty="0"/>
              <a:t>- Result without RAG - 20%</a:t>
            </a:r>
            <a:r>
              <a:rPr lang="en-US" altLang="zh-TW" dirty="0"/>
              <a:t> 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zh-TW" dirty="0"/>
              <a:t>- Result with RAG - 20%</a:t>
            </a:r>
            <a:r>
              <a:rPr lang="en-US" altLang="zh-TW" dirty="0"/>
              <a:t> 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zh-TW" dirty="0"/>
              <a:t>- Compare the result (w/o RAG) - 20%</a:t>
            </a:r>
            <a:r>
              <a:rPr lang="zh-TW" altLang="en-US" dirty="0"/>
              <a:t>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dirty="0"/>
              <a:t>    - Bonus: Different model comparison - 10%</a:t>
            </a:r>
            <a:r>
              <a:rPr lang="zh-TW" altLang="en-US" dirty="0"/>
              <a:t> </a:t>
            </a:r>
            <a:endParaRPr lang="en-US" altLang="zh-TW" dirty="0"/>
          </a:p>
          <a:p>
            <a:pPr marL="457200" lvl="1" indent="0">
              <a:spcBef>
                <a:spcPts val="1200"/>
              </a:spcBef>
              <a:buNone/>
            </a:pPr>
            <a:r>
              <a:rPr lang="en-US" altLang="zh-TW" dirty="0"/>
              <a:t>1.</a:t>
            </a:r>
            <a:r>
              <a:rPr lang="zh-TW" altLang="en-US" dirty="0">
                <a:solidFill>
                  <a:srgbClr val="FF0000"/>
                </a:solidFill>
              </a:rPr>
              <a:t>從</a:t>
            </a:r>
            <a:r>
              <a:rPr lang="en-US" altLang="zh-TW" dirty="0">
                <a:solidFill>
                  <a:srgbClr val="FF0000"/>
                </a:solidFill>
              </a:rPr>
              <a:t>Hugging face</a:t>
            </a:r>
            <a:r>
              <a:rPr lang="zh-TW" altLang="en-US" dirty="0">
                <a:solidFill>
                  <a:srgbClr val="FF0000"/>
                </a:solidFill>
              </a:rPr>
              <a:t>挑的</a:t>
            </a:r>
            <a:r>
              <a:rPr lang="en-US" altLang="zh-TW" dirty="0">
                <a:solidFill>
                  <a:srgbClr val="FF0000"/>
                </a:solidFill>
              </a:rPr>
              <a:t>Generative Model</a:t>
            </a:r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需列在報告裡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假設有</a:t>
            </a:r>
            <a:r>
              <a:rPr lang="en-US" altLang="zh-TW" dirty="0">
                <a:solidFill>
                  <a:srgbClr val="FF0000"/>
                </a:solidFill>
              </a:rPr>
              <a:t>A</a:t>
            </a:r>
            <a:r>
              <a:rPr lang="zh-TW" altLang="en-US" dirty="0">
                <a:solidFill>
                  <a:srgbClr val="FF0000"/>
                </a:solidFill>
              </a:rPr>
              <a:t>和</a:t>
            </a:r>
            <a:r>
              <a:rPr lang="en-US" altLang="zh-TW" dirty="0">
                <a:solidFill>
                  <a:srgbClr val="FF0000"/>
                </a:solidFill>
              </a:rPr>
              <a:t>B</a:t>
            </a:r>
            <a:r>
              <a:rPr lang="zh-TW" altLang="en-US" dirty="0">
                <a:solidFill>
                  <a:srgbClr val="FF0000"/>
                </a:solidFill>
              </a:rPr>
              <a:t>語言模型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，</a:t>
            </a:r>
            <a:r>
              <a:rPr lang="zh-TW" altLang="en-US" dirty="0">
                <a:solidFill>
                  <a:srgbClr val="FF0000"/>
                </a:solidFill>
              </a:rPr>
              <a:t>需分別羅列出</a:t>
            </a:r>
            <a:r>
              <a:rPr lang="en-US" altLang="zh-TW" dirty="0">
                <a:solidFill>
                  <a:srgbClr val="FF0000"/>
                </a:solidFill>
              </a:rPr>
              <a:t>A</a:t>
            </a:r>
            <a:r>
              <a:rPr lang="zh-TW" altLang="en-US" dirty="0">
                <a:solidFill>
                  <a:srgbClr val="FF0000"/>
                </a:solidFill>
              </a:rPr>
              <a:t>和</a:t>
            </a:r>
            <a:r>
              <a:rPr lang="en-US" altLang="zh-TW" dirty="0">
                <a:solidFill>
                  <a:srgbClr val="FF0000"/>
                </a:solidFill>
              </a:rPr>
              <a:t>B</a:t>
            </a:r>
            <a:r>
              <a:rPr lang="zh-TW" altLang="en-US" dirty="0">
                <a:solidFill>
                  <a:srgbClr val="FF0000"/>
                </a:solidFill>
              </a:rPr>
              <a:t>模型在</a:t>
            </a:r>
            <a:r>
              <a:rPr lang="en-US" altLang="zh-TW" dirty="0">
                <a:solidFill>
                  <a:srgbClr val="FF0000"/>
                </a:solidFill>
              </a:rPr>
              <a:t>with RAG</a:t>
            </a:r>
            <a:r>
              <a:rPr lang="zh-TW" altLang="en-US" dirty="0">
                <a:solidFill>
                  <a:srgbClr val="FF0000"/>
                </a:solidFill>
              </a:rPr>
              <a:t>及</a:t>
            </a:r>
            <a:r>
              <a:rPr lang="en-US" altLang="zh-TW" dirty="0">
                <a:solidFill>
                  <a:srgbClr val="FF0000"/>
                </a:solidFill>
              </a:rPr>
              <a:t>without RAG</a:t>
            </a:r>
            <a:r>
              <a:rPr lang="zh-TW" altLang="en-US" dirty="0">
                <a:solidFill>
                  <a:srgbClr val="FF0000"/>
                </a:solidFill>
              </a:rPr>
              <a:t>的結果</a:t>
            </a:r>
            <a:endParaRPr lang="en-US" altLang="zh-TW" dirty="0">
              <a:solidFill>
                <a:srgbClr val="FF0000"/>
              </a:solidFill>
            </a:endParaRPr>
          </a:p>
          <a:p>
            <a:pPr marL="457200" lvl="1" indent="0">
              <a:spcBef>
                <a:spcPts val="1200"/>
              </a:spcBef>
              <a:buNone/>
            </a:pPr>
            <a:r>
              <a:rPr lang="en-US" altLang="zh-TW" dirty="0"/>
              <a:t>2.</a:t>
            </a:r>
            <a:r>
              <a:rPr lang="zh-TW" altLang="en-US" dirty="0">
                <a:solidFill>
                  <a:srgbClr val="FF0000"/>
                </a:solidFill>
              </a:rPr>
              <a:t>適當對圖表做結論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dirty="0"/>
              <a:t>    - Bonus: Describe your own RAG pipeline / Compare with sample notebook - 10%</a:t>
            </a:r>
            <a:endParaRPr lang="en-US" altLang="zh-TW" dirty="0"/>
          </a:p>
          <a:p>
            <a:pPr marL="457200" lvl="1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TW" dirty="0"/>
              <a:t>1.</a:t>
            </a:r>
            <a:r>
              <a:rPr lang="zh-TW" altLang="en-US" dirty="0">
                <a:solidFill>
                  <a:srgbClr val="FF0000"/>
                </a:solidFill>
              </a:rPr>
              <a:t>從</a:t>
            </a:r>
            <a:r>
              <a:rPr lang="en-US" altLang="zh-TW" dirty="0">
                <a:solidFill>
                  <a:srgbClr val="FF0000"/>
                </a:solidFill>
              </a:rPr>
              <a:t>Hugging face</a:t>
            </a:r>
            <a:r>
              <a:rPr lang="zh-TW" altLang="en-US" dirty="0">
                <a:solidFill>
                  <a:srgbClr val="FF0000"/>
                </a:solidFill>
              </a:rPr>
              <a:t>挑的</a:t>
            </a:r>
            <a:r>
              <a:rPr lang="en-US" altLang="zh-TW" dirty="0">
                <a:solidFill>
                  <a:srgbClr val="FF0000"/>
                </a:solidFill>
              </a:rPr>
              <a:t>Generative Model</a:t>
            </a:r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需列在報告裡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endParaRPr lang="en-US" altLang="zh-TW" dirty="0"/>
          </a:p>
          <a:p>
            <a:pPr marL="457200" lvl="1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TW" dirty="0"/>
              <a:t>2.</a:t>
            </a:r>
            <a:r>
              <a:rPr lang="zh-TW" altLang="en-US" dirty="0">
                <a:solidFill>
                  <a:srgbClr val="FF0000"/>
                </a:solidFill>
              </a:rPr>
              <a:t>和原先的</a:t>
            </a:r>
            <a:r>
              <a:rPr lang="en-US" altLang="zh-TW" dirty="0">
                <a:solidFill>
                  <a:srgbClr val="FF0000"/>
                </a:solidFill>
              </a:rPr>
              <a:t>RAG</a:t>
            </a:r>
            <a:r>
              <a:rPr lang="zh-TW" altLang="en-US" dirty="0">
                <a:solidFill>
                  <a:srgbClr val="FF0000"/>
                </a:solidFill>
              </a:rPr>
              <a:t>相比，你的</a:t>
            </a:r>
            <a:r>
              <a:rPr lang="en-US" altLang="zh-TW" dirty="0">
                <a:solidFill>
                  <a:srgbClr val="FF0000"/>
                </a:solidFill>
              </a:rPr>
              <a:t>RAG pipeline</a:t>
            </a:r>
            <a:r>
              <a:rPr lang="zh-TW" altLang="en-US" dirty="0">
                <a:solidFill>
                  <a:srgbClr val="FF0000"/>
                </a:solidFill>
              </a:rPr>
              <a:t>做了哪些改變，又因為牽涉比較一定會使用到評估指標來說明</a:t>
            </a:r>
            <a:endParaRPr lang="en-US" altLang="zh-TW" dirty="0">
              <a:solidFill>
                <a:srgbClr val="FF0000"/>
              </a:solidFill>
            </a:endParaRPr>
          </a:p>
          <a:p>
            <a:pPr marL="457200" lvl="1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TW" dirty="0"/>
              <a:t>3.</a:t>
            </a:r>
            <a:r>
              <a:rPr lang="zh-TW" altLang="en-US" dirty="0">
                <a:solidFill>
                  <a:srgbClr val="FF0000"/>
                </a:solidFill>
              </a:rPr>
              <a:t>適當對圖表做結論</a:t>
            </a:r>
            <a:endParaRPr lang="zh-TW" altLang="en-US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29694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433</Words>
  <Application>Microsoft Office PowerPoint</Application>
  <PresentationFormat>如螢幕大小 (16:9)</PresentationFormat>
  <Paragraphs>39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6" baseType="lpstr">
      <vt:lpstr>Arial</vt:lpstr>
      <vt:lpstr>Simple Light</vt:lpstr>
      <vt:lpstr>HW4 LLM</vt:lpstr>
      <vt:lpstr>Requirements</vt:lpstr>
      <vt:lpstr>Submit and Grading</vt:lpstr>
      <vt:lpstr>Submit and Grading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cp:revision>4</cp:revision>
  <dcterms:modified xsi:type="dcterms:W3CDTF">2025-11-14T07:56:26Z</dcterms:modified>
</cp:coreProperties>
</file>