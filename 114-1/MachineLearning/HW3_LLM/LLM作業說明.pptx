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  <p:sldMasterId id="2147483648" r:id="rId2"/>
  </p:sldMasterIdLst>
  <p:notesMasterIdLst>
    <p:notesMasterId r:id="rId38"/>
  </p:notesMasterIdLst>
  <p:sldIdLst>
    <p:sldId id="266" r:id="rId3"/>
    <p:sldId id="267" r:id="rId4"/>
    <p:sldId id="268" r:id="rId5"/>
    <p:sldId id="269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9" r:id="rId24"/>
    <p:sldId id="290" r:id="rId25"/>
    <p:sldId id="291" r:id="rId26"/>
    <p:sldId id="292" r:id="rId27"/>
    <p:sldId id="256" r:id="rId28"/>
    <p:sldId id="257" r:id="rId29"/>
    <p:sldId id="258" r:id="rId30"/>
    <p:sldId id="259" r:id="rId31"/>
    <p:sldId id="260" r:id="rId32"/>
    <p:sldId id="261" r:id="rId33"/>
    <p:sldId id="262" r:id="rId34"/>
    <p:sldId id="263" r:id="rId35"/>
    <p:sldId id="264" r:id="rId36"/>
    <p:sldId id="265" r:id="rId3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620" y="1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3711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047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0618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9958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5717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3598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7086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3443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7566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895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50816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28176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0331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5050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79464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6622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7976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740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86765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TW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99E78-F391-4FED-AA38-AAD129B4FEB8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65941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51f049c1f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51f049c1f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51f049c1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51f049c1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51f049c1f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51f049c1f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51f049c1f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51f049c1f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51f049c1f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51f049c1f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51f049c1f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51f049c1f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51f049c1f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51f049c1f_1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51f049c1f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51f049c1f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51f049c1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51f049c1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64B4F-35DD-4195-AB49-675E6100DC70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A1967-3A1D-4409-99AF-F84AE8C31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3031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64B4F-35DD-4195-AB49-675E6100DC70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A1967-3A1D-4409-99AF-F84AE8C31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9238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64B4F-35DD-4195-AB49-675E6100DC70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A1967-3A1D-4409-99AF-F84AE8C31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32415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64B4F-35DD-4195-AB49-675E6100DC70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A1967-3A1D-4409-99AF-F84AE8C31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186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64B4F-35DD-4195-AB49-675E6100DC70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A1967-3A1D-4409-99AF-F84AE8C31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3294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64B4F-35DD-4195-AB49-675E6100DC70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A1967-3A1D-4409-99AF-F84AE8C31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2093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64B4F-35DD-4195-AB49-675E6100DC70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A1967-3A1D-4409-99AF-F84AE8C31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918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64B4F-35DD-4195-AB49-675E6100DC70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A1967-3A1D-4409-99AF-F84AE8C31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45535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64B4F-35DD-4195-AB49-675E6100DC70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A1967-3A1D-4409-99AF-F84AE8C31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6154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64B4F-35DD-4195-AB49-675E6100DC70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A1967-3A1D-4409-99AF-F84AE8C31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62880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64B4F-35DD-4195-AB49-675E6100DC70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A1967-3A1D-4409-99AF-F84AE8C31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332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64B4F-35DD-4195-AB49-675E6100DC70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A1967-3A1D-4409-99AF-F84AE8C31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548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yasaisen/LLMTutorial/main/demo_dataset/ncku_wikipedia_2510080406.json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entence-transformers%20%20https:/huggingface.co/models?pipeline_tag=question-answering&amp;sort=trending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huggingface.co/models?pipeline_tag=question-answering&amp;sort=trend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" y="2160904"/>
            <a:ext cx="9143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</a:t>
            </a:r>
          </a:p>
        </p:txBody>
      </p:sp>
      <p:sp>
        <p:nvSpPr>
          <p:cNvPr id="2" name="矩形 1"/>
          <p:cNvSpPr/>
          <p:nvPr/>
        </p:nvSpPr>
        <p:spPr>
          <a:xfrm>
            <a:off x="1" y="393481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October 28, 2025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103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025467" y="1279911"/>
            <a:ext cx="730890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zh-TW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</a:p>
          <a:p>
            <a:endParaRPr lang="en-US" altLang="zh-TW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with RAG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203171" y="296520"/>
            <a:ext cx="4108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2" name="矩形 1"/>
          <p:cNvSpPr/>
          <p:nvPr/>
        </p:nvSpPr>
        <p:spPr>
          <a:xfrm>
            <a:off x="483826" y="4658752"/>
            <a:ext cx="8392190" cy="5078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9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r>
              <a:rPr lang="zh-TW" altLang="en-US" sz="9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9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UCB EECS CS 288. Natural Language Processing</a:t>
            </a:r>
          </a:p>
          <a:p>
            <a:r>
              <a:rPr lang="en-US" altLang="zh-TW" sz="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Sharma, C. "Retrieval-Augmented Generation: A Comprehensive Survey of Architectures, Enhancements, and Robustness Frontiers." in arXiv</a:t>
            </a:r>
            <a:r>
              <a:rPr lang="zh-TW" altLang="en-US" sz="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preprint arXiv:2506.00054, 2025.</a:t>
            </a:r>
          </a:p>
        </p:txBody>
      </p:sp>
    </p:spTree>
    <p:extLst>
      <p:ext uri="{BB962C8B-B14F-4D97-AF65-F5344CB8AC3E}">
        <p14:creationId xmlns:p14="http://schemas.microsoft.com/office/powerpoint/2010/main" val="3767527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025467" y="1279911"/>
            <a:ext cx="730890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zh-TW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</a:p>
          <a:p>
            <a:endParaRPr lang="en-US" altLang="zh-TW" sz="21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 with RAG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203171" y="296520"/>
            <a:ext cx="4108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25903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字方塊 78"/>
          <p:cNvSpPr txBox="1"/>
          <p:nvPr/>
        </p:nvSpPr>
        <p:spPr>
          <a:xfrm>
            <a:off x="203171" y="296520"/>
            <a:ext cx="4108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8683236" y="4713431"/>
            <a:ext cx="21427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2" name="Google Shape;409;p28"/>
          <p:cNvCxnSpPr/>
          <p:nvPr/>
        </p:nvCxnSpPr>
        <p:spPr>
          <a:xfrm flipV="1">
            <a:off x="5604917" y="1355034"/>
            <a:ext cx="0" cy="69280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82" name="Google Shape;409;p28"/>
          <p:cNvCxnSpPr/>
          <p:nvPr/>
        </p:nvCxnSpPr>
        <p:spPr>
          <a:xfrm flipV="1">
            <a:off x="5604917" y="3608339"/>
            <a:ext cx="0" cy="628188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4" name="Google Shape;409;p28"/>
          <p:cNvCxnSpPr/>
          <p:nvPr/>
        </p:nvCxnSpPr>
        <p:spPr>
          <a:xfrm flipV="1">
            <a:off x="5219051" y="2473805"/>
            <a:ext cx="0" cy="74473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6" name="圓角矩形 25"/>
          <p:cNvSpPr/>
          <p:nvPr/>
        </p:nvSpPr>
        <p:spPr>
          <a:xfrm>
            <a:off x="4904540" y="2348831"/>
            <a:ext cx="629023" cy="125727"/>
          </a:xfrm>
          <a:prstGeom prst="roundRect">
            <a:avLst>
              <a:gd name="adj" fmla="val 26419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reference</a:t>
            </a:r>
          </a:p>
        </p:txBody>
      </p:sp>
      <p:sp>
        <p:nvSpPr>
          <p:cNvPr id="71" name="圓角矩形 70"/>
          <p:cNvSpPr/>
          <p:nvPr/>
        </p:nvSpPr>
        <p:spPr>
          <a:xfrm>
            <a:off x="4902859" y="1895183"/>
            <a:ext cx="1404116" cy="449755"/>
          </a:xfrm>
          <a:prstGeom prst="roundRect">
            <a:avLst>
              <a:gd name="adj" fmla="val 26419"/>
            </a:avLst>
          </a:prstGeom>
          <a:solidFill>
            <a:srgbClr val="A6CEE3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5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Generator</a:t>
            </a:r>
            <a:endParaRPr lang="en-US" altLang="zh-TW" sz="1500" dirty="0">
              <a:solidFill>
                <a:schemeClr val="tx1"/>
              </a:solidFill>
              <a:sym typeface="Arial"/>
            </a:endParaRPr>
          </a:p>
        </p:txBody>
      </p:sp>
      <p:cxnSp>
        <p:nvCxnSpPr>
          <p:cNvPr id="77" name="Google Shape;409;p28"/>
          <p:cNvCxnSpPr/>
          <p:nvPr/>
        </p:nvCxnSpPr>
        <p:spPr>
          <a:xfrm>
            <a:off x="3442048" y="3139238"/>
            <a:ext cx="1464493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78" name="Google Shape;409;p28"/>
          <p:cNvCxnSpPr/>
          <p:nvPr/>
        </p:nvCxnSpPr>
        <p:spPr>
          <a:xfrm flipH="1">
            <a:off x="3442049" y="3347787"/>
            <a:ext cx="1515933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5" name="圓角矩形 84"/>
          <p:cNvSpPr/>
          <p:nvPr/>
        </p:nvSpPr>
        <p:spPr>
          <a:xfrm>
            <a:off x="4772501" y="2667032"/>
            <a:ext cx="893100" cy="158607"/>
          </a:xfrm>
          <a:prstGeom prst="roundRect">
            <a:avLst>
              <a:gd name="adj" fmla="val 264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7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&lt;factual context&gt;</a:t>
            </a:r>
          </a:p>
        </p:txBody>
      </p:sp>
      <p:sp>
        <p:nvSpPr>
          <p:cNvPr id="86" name="圓角矩形 85"/>
          <p:cNvSpPr/>
          <p:nvPr/>
        </p:nvSpPr>
        <p:spPr>
          <a:xfrm>
            <a:off x="5158367" y="4144160"/>
            <a:ext cx="893100" cy="158607"/>
          </a:xfrm>
          <a:prstGeom prst="roundRect">
            <a:avLst>
              <a:gd name="adj" fmla="val 264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78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&lt;user query&gt;</a:t>
            </a:r>
          </a:p>
        </p:txBody>
      </p:sp>
      <p:sp>
        <p:nvSpPr>
          <p:cNvPr id="90" name="圓角矩形 89"/>
          <p:cNvSpPr/>
          <p:nvPr/>
        </p:nvSpPr>
        <p:spPr>
          <a:xfrm>
            <a:off x="3710558" y="3268484"/>
            <a:ext cx="918108" cy="158607"/>
          </a:xfrm>
          <a:prstGeom prst="roundRect">
            <a:avLst>
              <a:gd name="adj" fmla="val 264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78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&lt;retrieval query&gt;</a:t>
            </a:r>
          </a:p>
        </p:txBody>
      </p:sp>
      <p:sp>
        <p:nvSpPr>
          <p:cNvPr id="91" name="圓角矩形 90"/>
          <p:cNvSpPr/>
          <p:nvPr/>
        </p:nvSpPr>
        <p:spPr>
          <a:xfrm>
            <a:off x="3715050" y="3059935"/>
            <a:ext cx="914807" cy="158607"/>
          </a:xfrm>
          <a:prstGeom prst="roundRect">
            <a:avLst>
              <a:gd name="adj" fmla="val 264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7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&lt;retrieved context&gt;</a:t>
            </a:r>
          </a:p>
        </p:txBody>
      </p:sp>
      <p:cxnSp>
        <p:nvCxnSpPr>
          <p:cNvPr id="93" name="Google Shape;409;p28"/>
          <p:cNvCxnSpPr/>
          <p:nvPr/>
        </p:nvCxnSpPr>
        <p:spPr>
          <a:xfrm flipV="1">
            <a:off x="5990625" y="2476249"/>
            <a:ext cx="0" cy="26996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4" name="Google Shape;409;p28"/>
          <p:cNvCxnSpPr/>
          <p:nvPr/>
        </p:nvCxnSpPr>
        <p:spPr>
          <a:xfrm>
            <a:off x="5990625" y="2746208"/>
            <a:ext cx="447106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5" name="Google Shape;409;p28"/>
          <p:cNvCxnSpPr/>
          <p:nvPr/>
        </p:nvCxnSpPr>
        <p:spPr>
          <a:xfrm>
            <a:off x="5609807" y="3881944"/>
            <a:ext cx="827924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6" name="Google Shape;409;p28"/>
          <p:cNvCxnSpPr/>
          <p:nvPr/>
        </p:nvCxnSpPr>
        <p:spPr>
          <a:xfrm>
            <a:off x="6437731" y="2746208"/>
            <a:ext cx="0" cy="1133718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1" name="圓角矩形 100"/>
          <p:cNvSpPr/>
          <p:nvPr/>
        </p:nvSpPr>
        <p:spPr>
          <a:xfrm>
            <a:off x="5158367" y="1192550"/>
            <a:ext cx="893100" cy="158607"/>
          </a:xfrm>
          <a:prstGeom prst="roundRect">
            <a:avLst>
              <a:gd name="adj" fmla="val 264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78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&lt;responds&gt;</a:t>
            </a:r>
          </a:p>
        </p:txBody>
      </p:sp>
      <p:sp>
        <p:nvSpPr>
          <p:cNvPr id="104" name="圓角矩形 103"/>
          <p:cNvSpPr/>
          <p:nvPr/>
        </p:nvSpPr>
        <p:spPr>
          <a:xfrm>
            <a:off x="5676114" y="2345087"/>
            <a:ext cx="629023" cy="125727"/>
          </a:xfrm>
          <a:prstGeom prst="roundRect">
            <a:avLst>
              <a:gd name="adj" fmla="val 26419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user query</a:t>
            </a:r>
          </a:p>
        </p:txBody>
      </p:sp>
      <p:sp>
        <p:nvSpPr>
          <p:cNvPr id="105" name="圓角矩形 104"/>
          <p:cNvSpPr/>
          <p:nvPr/>
        </p:nvSpPr>
        <p:spPr>
          <a:xfrm>
            <a:off x="5290406" y="3470795"/>
            <a:ext cx="629023" cy="125727"/>
          </a:xfrm>
          <a:prstGeom prst="roundRect">
            <a:avLst>
              <a:gd name="adj" fmla="val 26419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user query</a:t>
            </a:r>
          </a:p>
        </p:txBody>
      </p:sp>
      <p:sp>
        <p:nvSpPr>
          <p:cNvPr id="69" name="圓角矩形 68"/>
          <p:cNvSpPr/>
          <p:nvPr/>
        </p:nvSpPr>
        <p:spPr>
          <a:xfrm>
            <a:off x="4902859" y="3020137"/>
            <a:ext cx="1404116" cy="449755"/>
          </a:xfrm>
          <a:prstGeom prst="roundRect">
            <a:avLst>
              <a:gd name="adj" fmla="val 26419"/>
            </a:avLst>
          </a:prstGeom>
          <a:solidFill>
            <a:srgbClr val="A6CEE3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5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Retriever</a:t>
            </a:r>
            <a:endParaRPr lang="en-US" altLang="zh-TW" sz="1500"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75" name="流程圖: 磁碟 74"/>
          <p:cNvSpPr/>
          <p:nvPr/>
        </p:nvSpPr>
        <p:spPr>
          <a:xfrm>
            <a:off x="2329735" y="2926382"/>
            <a:ext cx="1121672" cy="584319"/>
          </a:xfrm>
          <a:prstGeom prst="flowChartMagneticDisk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</a:t>
            </a:r>
            <a:endParaRPr lang="zh-TW" altLang="en-US" sz="10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661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字方塊 78"/>
          <p:cNvSpPr txBox="1"/>
          <p:nvPr/>
        </p:nvSpPr>
        <p:spPr>
          <a:xfrm>
            <a:off x="203171" y="296520"/>
            <a:ext cx="4108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8683236" y="4713431"/>
            <a:ext cx="21427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2" name="Google Shape;409;p28"/>
          <p:cNvCxnSpPr/>
          <p:nvPr/>
        </p:nvCxnSpPr>
        <p:spPr>
          <a:xfrm flipV="1">
            <a:off x="5604917" y="1355034"/>
            <a:ext cx="0" cy="69280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82" name="Google Shape;409;p28"/>
          <p:cNvCxnSpPr/>
          <p:nvPr/>
        </p:nvCxnSpPr>
        <p:spPr>
          <a:xfrm flipV="1">
            <a:off x="5604917" y="3608339"/>
            <a:ext cx="0" cy="628188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4" name="Google Shape;409;p28"/>
          <p:cNvCxnSpPr/>
          <p:nvPr/>
        </p:nvCxnSpPr>
        <p:spPr>
          <a:xfrm flipV="1">
            <a:off x="5219051" y="2473805"/>
            <a:ext cx="0" cy="744737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6" name="圓角矩形 25"/>
          <p:cNvSpPr/>
          <p:nvPr/>
        </p:nvSpPr>
        <p:spPr>
          <a:xfrm>
            <a:off x="4904540" y="2348831"/>
            <a:ext cx="629023" cy="125727"/>
          </a:xfrm>
          <a:prstGeom prst="roundRect">
            <a:avLst>
              <a:gd name="adj" fmla="val 26419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reference</a:t>
            </a:r>
          </a:p>
        </p:txBody>
      </p:sp>
      <p:sp>
        <p:nvSpPr>
          <p:cNvPr id="71" name="圓角矩形 70"/>
          <p:cNvSpPr/>
          <p:nvPr/>
        </p:nvSpPr>
        <p:spPr>
          <a:xfrm>
            <a:off x="4902859" y="1895183"/>
            <a:ext cx="1404116" cy="449755"/>
          </a:xfrm>
          <a:prstGeom prst="roundRect">
            <a:avLst>
              <a:gd name="adj" fmla="val 26419"/>
            </a:avLst>
          </a:prstGeom>
          <a:solidFill>
            <a:srgbClr val="A6CEE3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5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Generator</a:t>
            </a:r>
            <a:endParaRPr lang="en-US" altLang="zh-TW" sz="1500" dirty="0">
              <a:solidFill>
                <a:schemeClr val="tx1"/>
              </a:solidFill>
              <a:sym typeface="Arial"/>
            </a:endParaRPr>
          </a:p>
        </p:txBody>
      </p:sp>
      <p:cxnSp>
        <p:nvCxnSpPr>
          <p:cNvPr id="77" name="Google Shape;409;p28"/>
          <p:cNvCxnSpPr/>
          <p:nvPr/>
        </p:nvCxnSpPr>
        <p:spPr>
          <a:xfrm>
            <a:off x="3442048" y="3139238"/>
            <a:ext cx="1464493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78" name="Google Shape;409;p28"/>
          <p:cNvCxnSpPr/>
          <p:nvPr/>
        </p:nvCxnSpPr>
        <p:spPr>
          <a:xfrm flipH="1">
            <a:off x="3442049" y="3347787"/>
            <a:ext cx="1515933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5" name="圓角矩形 84"/>
          <p:cNvSpPr/>
          <p:nvPr/>
        </p:nvSpPr>
        <p:spPr>
          <a:xfrm>
            <a:off x="4772501" y="2667032"/>
            <a:ext cx="893100" cy="158607"/>
          </a:xfrm>
          <a:prstGeom prst="roundRect">
            <a:avLst>
              <a:gd name="adj" fmla="val 264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7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&lt;factual context&gt;</a:t>
            </a:r>
          </a:p>
        </p:txBody>
      </p:sp>
      <p:sp>
        <p:nvSpPr>
          <p:cNvPr id="86" name="圓角矩形 85"/>
          <p:cNvSpPr/>
          <p:nvPr/>
        </p:nvSpPr>
        <p:spPr>
          <a:xfrm>
            <a:off x="5158367" y="4144160"/>
            <a:ext cx="893100" cy="158607"/>
          </a:xfrm>
          <a:prstGeom prst="roundRect">
            <a:avLst>
              <a:gd name="adj" fmla="val 264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78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&lt;user query&gt;</a:t>
            </a:r>
          </a:p>
        </p:txBody>
      </p:sp>
      <p:sp>
        <p:nvSpPr>
          <p:cNvPr id="90" name="圓角矩形 89"/>
          <p:cNvSpPr/>
          <p:nvPr/>
        </p:nvSpPr>
        <p:spPr>
          <a:xfrm>
            <a:off x="3710558" y="3268484"/>
            <a:ext cx="918108" cy="158607"/>
          </a:xfrm>
          <a:prstGeom prst="roundRect">
            <a:avLst>
              <a:gd name="adj" fmla="val 264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78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&lt;retrieval query&gt;</a:t>
            </a:r>
          </a:p>
        </p:txBody>
      </p:sp>
      <p:sp>
        <p:nvSpPr>
          <p:cNvPr id="91" name="圓角矩形 90"/>
          <p:cNvSpPr/>
          <p:nvPr/>
        </p:nvSpPr>
        <p:spPr>
          <a:xfrm>
            <a:off x="3715050" y="3059935"/>
            <a:ext cx="914807" cy="158607"/>
          </a:xfrm>
          <a:prstGeom prst="roundRect">
            <a:avLst>
              <a:gd name="adj" fmla="val 264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7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&lt;retrieved context&gt;</a:t>
            </a:r>
          </a:p>
        </p:txBody>
      </p:sp>
      <p:cxnSp>
        <p:nvCxnSpPr>
          <p:cNvPr id="93" name="Google Shape;409;p28"/>
          <p:cNvCxnSpPr/>
          <p:nvPr/>
        </p:nvCxnSpPr>
        <p:spPr>
          <a:xfrm flipV="1">
            <a:off x="5990625" y="2476249"/>
            <a:ext cx="0" cy="26996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4" name="Google Shape;409;p28"/>
          <p:cNvCxnSpPr/>
          <p:nvPr/>
        </p:nvCxnSpPr>
        <p:spPr>
          <a:xfrm>
            <a:off x="5990625" y="2746208"/>
            <a:ext cx="447106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5" name="Google Shape;409;p28"/>
          <p:cNvCxnSpPr/>
          <p:nvPr/>
        </p:nvCxnSpPr>
        <p:spPr>
          <a:xfrm>
            <a:off x="5609807" y="3881944"/>
            <a:ext cx="827924" cy="0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6" name="Google Shape;409;p28"/>
          <p:cNvCxnSpPr/>
          <p:nvPr/>
        </p:nvCxnSpPr>
        <p:spPr>
          <a:xfrm>
            <a:off x="6437731" y="2746208"/>
            <a:ext cx="0" cy="1133718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1" name="圓角矩形 100"/>
          <p:cNvSpPr/>
          <p:nvPr/>
        </p:nvSpPr>
        <p:spPr>
          <a:xfrm>
            <a:off x="5158367" y="1192550"/>
            <a:ext cx="893100" cy="158607"/>
          </a:xfrm>
          <a:prstGeom prst="roundRect">
            <a:avLst>
              <a:gd name="adj" fmla="val 264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78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&lt;responds&gt;</a:t>
            </a:r>
          </a:p>
        </p:txBody>
      </p:sp>
      <p:sp>
        <p:nvSpPr>
          <p:cNvPr id="104" name="圓角矩形 103"/>
          <p:cNvSpPr/>
          <p:nvPr/>
        </p:nvSpPr>
        <p:spPr>
          <a:xfrm>
            <a:off x="5676114" y="2345087"/>
            <a:ext cx="629023" cy="125727"/>
          </a:xfrm>
          <a:prstGeom prst="roundRect">
            <a:avLst>
              <a:gd name="adj" fmla="val 26419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user query</a:t>
            </a:r>
          </a:p>
        </p:txBody>
      </p:sp>
      <p:sp>
        <p:nvSpPr>
          <p:cNvPr id="105" name="圓角矩形 104"/>
          <p:cNvSpPr/>
          <p:nvPr/>
        </p:nvSpPr>
        <p:spPr>
          <a:xfrm>
            <a:off x="5290406" y="3470795"/>
            <a:ext cx="629023" cy="125727"/>
          </a:xfrm>
          <a:prstGeom prst="roundRect">
            <a:avLst>
              <a:gd name="adj" fmla="val 26419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user query</a:t>
            </a:r>
          </a:p>
        </p:txBody>
      </p:sp>
      <p:sp>
        <p:nvSpPr>
          <p:cNvPr id="69" name="圓角矩形 68"/>
          <p:cNvSpPr/>
          <p:nvPr/>
        </p:nvSpPr>
        <p:spPr>
          <a:xfrm>
            <a:off x="4902859" y="3020137"/>
            <a:ext cx="1404116" cy="449755"/>
          </a:xfrm>
          <a:prstGeom prst="roundRect">
            <a:avLst>
              <a:gd name="adj" fmla="val 26419"/>
            </a:avLst>
          </a:prstGeom>
          <a:solidFill>
            <a:srgbClr val="A6CEE3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TW" sz="15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Retriever</a:t>
            </a:r>
            <a:endParaRPr lang="en-US" altLang="zh-TW" sz="1500"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75" name="流程圖: 磁碟 74"/>
          <p:cNvSpPr/>
          <p:nvPr/>
        </p:nvSpPr>
        <p:spPr>
          <a:xfrm>
            <a:off x="2329735" y="2926382"/>
            <a:ext cx="1121672" cy="584319"/>
          </a:xfrm>
          <a:prstGeom prst="flowChartMagneticDisk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</a:t>
            </a:r>
            <a:endParaRPr lang="zh-TW" altLang="en-US" sz="10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2151409" y="2587204"/>
            <a:ext cx="1017636" cy="3231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</a:p>
        </p:txBody>
      </p:sp>
      <p:sp>
        <p:nvSpPr>
          <p:cNvPr id="133" name="矩形 132"/>
          <p:cNvSpPr/>
          <p:nvPr/>
        </p:nvSpPr>
        <p:spPr>
          <a:xfrm>
            <a:off x="2222304" y="2872084"/>
            <a:ext cx="4416331" cy="89409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 sz="1013"/>
          </a:p>
        </p:txBody>
      </p:sp>
      <p:sp>
        <p:nvSpPr>
          <p:cNvPr id="135" name="矩形 134"/>
          <p:cNvSpPr/>
          <p:nvPr/>
        </p:nvSpPr>
        <p:spPr>
          <a:xfrm>
            <a:off x="2222304" y="1673253"/>
            <a:ext cx="4416330" cy="95085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 sz="1013"/>
          </a:p>
        </p:txBody>
      </p:sp>
      <p:sp>
        <p:nvSpPr>
          <p:cNvPr id="136" name="矩形 135"/>
          <p:cNvSpPr/>
          <p:nvPr/>
        </p:nvSpPr>
        <p:spPr>
          <a:xfrm>
            <a:off x="2151409" y="1398669"/>
            <a:ext cx="1165656" cy="3231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</a:p>
        </p:txBody>
      </p:sp>
    </p:spTree>
    <p:extLst>
      <p:ext uri="{BB962C8B-B14F-4D97-AF65-F5344CB8AC3E}">
        <p14:creationId xmlns:p14="http://schemas.microsoft.com/office/powerpoint/2010/main" val="81543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025467" y="1279911"/>
            <a:ext cx="730890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zh-TW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</a:p>
          <a:p>
            <a:endParaRPr lang="en-US" altLang="zh-TW" sz="21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 with RAG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203171" y="296520"/>
            <a:ext cx="4108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482842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字方塊 78"/>
          <p:cNvSpPr txBox="1"/>
          <p:nvPr/>
        </p:nvSpPr>
        <p:spPr>
          <a:xfrm>
            <a:off x="203170" y="296520"/>
            <a:ext cx="883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  <a:endParaRPr lang="en-US" altLang="zh-TW" sz="1013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683236" y="4713431"/>
            <a:ext cx="21427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83568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字方塊 78"/>
          <p:cNvSpPr txBox="1"/>
          <p:nvPr/>
        </p:nvSpPr>
        <p:spPr>
          <a:xfrm>
            <a:off x="203170" y="296520"/>
            <a:ext cx="883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(Question Answering in specific domain)</a:t>
            </a:r>
          </a:p>
        </p:txBody>
      </p:sp>
      <p:sp>
        <p:nvSpPr>
          <p:cNvPr id="27" name="文字方塊 26"/>
          <p:cNvSpPr txBox="1"/>
          <p:nvPr/>
        </p:nvSpPr>
        <p:spPr>
          <a:xfrm>
            <a:off x="8683236" y="4713431"/>
            <a:ext cx="21427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28036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字方塊 78"/>
          <p:cNvSpPr txBox="1"/>
          <p:nvPr/>
        </p:nvSpPr>
        <p:spPr>
          <a:xfrm>
            <a:off x="203170" y="296520"/>
            <a:ext cx="883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(Question Answering in specific domain)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8683236" y="4713431"/>
            <a:ext cx="21427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4764003" y="1235731"/>
            <a:ext cx="4107996" cy="3110216"/>
            <a:chOff x="5929523" y="1590067"/>
            <a:chExt cx="5477328" cy="4146955"/>
          </a:xfrm>
        </p:grpSpPr>
        <p:cxnSp>
          <p:nvCxnSpPr>
            <p:cNvPr id="102" name="Google Shape;409;p28"/>
            <p:cNvCxnSpPr/>
            <p:nvPr/>
          </p:nvCxnSpPr>
          <p:spPr>
            <a:xfrm flipV="1">
              <a:off x="10296432" y="1806711"/>
              <a:ext cx="0" cy="92374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2" name="Google Shape;409;p28"/>
            <p:cNvCxnSpPr/>
            <p:nvPr/>
          </p:nvCxnSpPr>
          <p:spPr>
            <a:xfrm flipV="1">
              <a:off x="10296432" y="4811119"/>
              <a:ext cx="0" cy="83758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14" name="Google Shape;409;p28"/>
            <p:cNvCxnSpPr/>
            <p:nvPr/>
          </p:nvCxnSpPr>
          <p:spPr>
            <a:xfrm flipV="1">
              <a:off x="9781944" y="3298406"/>
              <a:ext cx="0" cy="99298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26" name="圓角矩形 25"/>
            <p:cNvSpPr/>
            <p:nvPr/>
          </p:nvSpPr>
          <p:spPr>
            <a:xfrm>
              <a:off x="9362596" y="3131775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reference</a:t>
              </a:r>
            </a:p>
          </p:txBody>
        </p:sp>
        <p:sp>
          <p:nvSpPr>
            <p:cNvPr id="71" name="圓角矩形 70"/>
            <p:cNvSpPr/>
            <p:nvPr/>
          </p:nvSpPr>
          <p:spPr>
            <a:xfrm>
              <a:off x="9360355" y="2526910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Generator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cxnSp>
          <p:nvCxnSpPr>
            <p:cNvPr id="77" name="Google Shape;409;p28"/>
            <p:cNvCxnSpPr/>
            <p:nvPr/>
          </p:nvCxnSpPr>
          <p:spPr>
            <a:xfrm>
              <a:off x="7412607" y="4185651"/>
              <a:ext cx="1952657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78" name="Google Shape;409;p28"/>
            <p:cNvCxnSpPr/>
            <p:nvPr/>
          </p:nvCxnSpPr>
          <p:spPr>
            <a:xfrm flipH="1">
              <a:off x="7412608" y="4463716"/>
              <a:ext cx="2021244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85" name="圓角矩形 84"/>
            <p:cNvSpPr/>
            <p:nvPr/>
          </p:nvSpPr>
          <p:spPr>
            <a:xfrm>
              <a:off x="9186544" y="3556043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&lt;factual context&gt;</a:t>
              </a:r>
            </a:p>
          </p:txBody>
        </p:sp>
        <p:sp>
          <p:nvSpPr>
            <p:cNvPr id="86" name="圓角矩形 85"/>
            <p:cNvSpPr/>
            <p:nvPr/>
          </p:nvSpPr>
          <p:spPr>
            <a:xfrm>
              <a:off x="9701032" y="5525546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&lt;user query&gt;</a:t>
              </a:r>
            </a:p>
          </p:txBody>
        </p:sp>
        <p:sp>
          <p:nvSpPr>
            <p:cNvPr id="90" name="圓角矩形 89"/>
            <p:cNvSpPr/>
            <p:nvPr/>
          </p:nvSpPr>
          <p:spPr>
            <a:xfrm>
              <a:off x="7770620" y="4357978"/>
              <a:ext cx="1224144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&lt;retrieval query&gt;</a:t>
              </a:r>
            </a:p>
          </p:txBody>
        </p:sp>
        <p:sp>
          <p:nvSpPr>
            <p:cNvPr id="91" name="圓角矩形 90"/>
            <p:cNvSpPr/>
            <p:nvPr/>
          </p:nvSpPr>
          <p:spPr>
            <a:xfrm>
              <a:off x="7776610" y="4079913"/>
              <a:ext cx="1219742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&lt;retrieved context&gt;</a:t>
              </a:r>
            </a:p>
          </p:txBody>
        </p:sp>
        <p:cxnSp>
          <p:nvCxnSpPr>
            <p:cNvPr id="93" name="Google Shape;409;p28"/>
            <p:cNvCxnSpPr/>
            <p:nvPr/>
          </p:nvCxnSpPr>
          <p:spPr>
            <a:xfrm flipV="1">
              <a:off x="10810710" y="3301665"/>
              <a:ext cx="0" cy="359946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4" name="Google Shape;409;p28"/>
            <p:cNvCxnSpPr/>
            <p:nvPr/>
          </p:nvCxnSpPr>
          <p:spPr>
            <a:xfrm>
              <a:off x="10810710" y="3661611"/>
              <a:ext cx="596141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5" name="Google Shape;409;p28"/>
            <p:cNvCxnSpPr/>
            <p:nvPr/>
          </p:nvCxnSpPr>
          <p:spPr>
            <a:xfrm>
              <a:off x="10302953" y="5175925"/>
              <a:ext cx="1103898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6" name="Google Shape;409;p28"/>
            <p:cNvCxnSpPr/>
            <p:nvPr/>
          </p:nvCxnSpPr>
          <p:spPr>
            <a:xfrm>
              <a:off x="11406851" y="3661611"/>
              <a:ext cx="0" cy="151162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01" name="圓角矩形 100"/>
            <p:cNvSpPr/>
            <p:nvPr/>
          </p:nvSpPr>
          <p:spPr>
            <a:xfrm>
              <a:off x="9701032" y="1590067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&lt;responds&gt;</a:t>
              </a:r>
            </a:p>
          </p:txBody>
        </p:sp>
        <p:sp>
          <p:nvSpPr>
            <p:cNvPr id="104" name="圓角矩形 103"/>
            <p:cNvSpPr/>
            <p:nvPr/>
          </p:nvSpPr>
          <p:spPr>
            <a:xfrm>
              <a:off x="10391362" y="3126782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105" name="圓角矩形 104"/>
            <p:cNvSpPr/>
            <p:nvPr/>
          </p:nvSpPr>
          <p:spPr>
            <a:xfrm>
              <a:off x="9877084" y="4627727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69" name="圓角矩形 68"/>
            <p:cNvSpPr/>
            <p:nvPr/>
          </p:nvSpPr>
          <p:spPr>
            <a:xfrm>
              <a:off x="9360355" y="4026849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Retriever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sp>
          <p:nvSpPr>
            <p:cNvPr id="75" name="流程圖: 磁碟 74"/>
            <p:cNvSpPr/>
            <p:nvPr/>
          </p:nvSpPr>
          <p:spPr>
            <a:xfrm>
              <a:off x="5929523" y="3901843"/>
              <a:ext cx="1495562" cy="779092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Knowledge Base</a:t>
              </a:r>
              <a:endParaRPr lang="zh-TW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522202" y="872599"/>
            <a:ext cx="6852629" cy="3921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quality, Grounding fidelity, Pipeline efficiency, Robustness</a:t>
            </a:r>
          </a:p>
          <a:p>
            <a:pPr algn="just"/>
            <a:endParaRPr lang="en-US" altLang="zh-TW" sz="8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improvement ideas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</a:p>
          <a:p>
            <a:pPr algn="just">
              <a:lnSpc>
                <a:spcPts val="1125"/>
              </a:lnSpc>
            </a:pPr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What should be the retrieval unit? Document? Passage?</a:t>
            </a:r>
            <a:endParaRPr lang="en-US" altLang="zh-TW" sz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method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Sparse retrieval (BM25) or dense retrieval? Or hybrid?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query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Is user input suitable for direct use as a query?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Rewriting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make passages more comprehensible &amp; include relevant info only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Reranking/adaptive adoption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use only relevant retrieved passages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&amp; Framework design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Deciding when to use retrieval? Multiple rounds of retrieval?</a:t>
            </a:r>
          </a:p>
        </p:txBody>
      </p:sp>
    </p:spTree>
    <p:extLst>
      <p:ext uri="{BB962C8B-B14F-4D97-AF65-F5344CB8AC3E}">
        <p14:creationId xmlns:p14="http://schemas.microsoft.com/office/powerpoint/2010/main" val="2141707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字方塊 78"/>
          <p:cNvSpPr txBox="1"/>
          <p:nvPr/>
        </p:nvSpPr>
        <p:spPr>
          <a:xfrm>
            <a:off x="203170" y="296520"/>
            <a:ext cx="883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(Question Answering in specific domain)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4764003" y="1235731"/>
            <a:ext cx="4107996" cy="3110216"/>
            <a:chOff x="5929523" y="1590067"/>
            <a:chExt cx="5477328" cy="4146955"/>
          </a:xfrm>
        </p:grpSpPr>
        <p:cxnSp>
          <p:nvCxnSpPr>
            <p:cNvPr id="102" name="Google Shape;409;p28"/>
            <p:cNvCxnSpPr/>
            <p:nvPr/>
          </p:nvCxnSpPr>
          <p:spPr>
            <a:xfrm flipV="1">
              <a:off x="10296432" y="1806711"/>
              <a:ext cx="0" cy="92374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2" name="Google Shape;409;p28"/>
            <p:cNvCxnSpPr/>
            <p:nvPr/>
          </p:nvCxnSpPr>
          <p:spPr>
            <a:xfrm flipV="1">
              <a:off x="10296432" y="4811119"/>
              <a:ext cx="0" cy="83758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14" name="Google Shape;409;p28"/>
            <p:cNvCxnSpPr/>
            <p:nvPr/>
          </p:nvCxnSpPr>
          <p:spPr>
            <a:xfrm flipV="1">
              <a:off x="9781944" y="3298406"/>
              <a:ext cx="0" cy="99298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26" name="圓角矩形 25"/>
            <p:cNvSpPr/>
            <p:nvPr/>
          </p:nvSpPr>
          <p:spPr>
            <a:xfrm>
              <a:off x="9362596" y="3131775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reference</a:t>
              </a:r>
            </a:p>
          </p:txBody>
        </p:sp>
        <p:sp>
          <p:nvSpPr>
            <p:cNvPr id="71" name="圓角矩形 70"/>
            <p:cNvSpPr/>
            <p:nvPr/>
          </p:nvSpPr>
          <p:spPr>
            <a:xfrm>
              <a:off x="9360355" y="2526910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Generator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cxnSp>
          <p:nvCxnSpPr>
            <p:cNvPr id="77" name="Google Shape;409;p28"/>
            <p:cNvCxnSpPr/>
            <p:nvPr/>
          </p:nvCxnSpPr>
          <p:spPr>
            <a:xfrm>
              <a:off x="7412607" y="4185651"/>
              <a:ext cx="1952657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78" name="Google Shape;409;p28"/>
            <p:cNvCxnSpPr/>
            <p:nvPr/>
          </p:nvCxnSpPr>
          <p:spPr>
            <a:xfrm flipH="1">
              <a:off x="7412608" y="4463716"/>
              <a:ext cx="2021244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85" name="圓角矩形 84"/>
            <p:cNvSpPr/>
            <p:nvPr/>
          </p:nvSpPr>
          <p:spPr>
            <a:xfrm>
              <a:off x="9186544" y="3556043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&lt;factual context&gt;</a:t>
              </a:r>
            </a:p>
          </p:txBody>
        </p:sp>
        <p:sp>
          <p:nvSpPr>
            <p:cNvPr id="86" name="圓角矩形 85"/>
            <p:cNvSpPr/>
            <p:nvPr/>
          </p:nvSpPr>
          <p:spPr>
            <a:xfrm>
              <a:off x="9701032" y="5525546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&lt;user query&gt;</a:t>
              </a:r>
            </a:p>
          </p:txBody>
        </p:sp>
        <p:sp>
          <p:nvSpPr>
            <p:cNvPr id="90" name="圓角矩形 89"/>
            <p:cNvSpPr/>
            <p:nvPr/>
          </p:nvSpPr>
          <p:spPr>
            <a:xfrm>
              <a:off x="7770620" y="4357978"/>
              <a:ext cx="1224144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&lt;retrieval query&gt;</a:t>
              </a:r>
            </a:p>
          </p:txBody>
        </p:sp>
        <p:sp>
          <p:nvSpPr>
            <p:cNvPr id="91" name="圓角矩形 90"/>
            <p:cNvSpPr/>
            <p:nvPr/>
          </p:nvSpPr>
          <p:spPr>
            <a:xfrm>
              <a:off x="7776610" y="4079913"/>
              <a:ext cx="1219742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&lt;retrieved context&gt;</a:t>
              </a:r>
            </a:p>
          </p:txBody>
        </p:sp>
        <p:cxnSp>
          <p:nvCxnSpPr>
            <p:cNvPr id="93" name="Google Shape;409;p28"/>
            <p:cNvCxnSpPr/>
            <p:nvPr/>
          </p:nvCxnSpPr>
          <p:spPr>
            <a:xfrm flipV="1">
              <a:off x="10810710" y="3301665"/>
              <a:ext cx="0" cy="359946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4" name="Google Shape;409;p28"/>
            <p:cNvCxnSpPr/>
            <p:nvPr/>
          </p:nvCxnSpPr>
          <p:spPr>
            <a:xfrm>
              <a:off x="10810710" y="3661611"/>
              <a:ext cx="596141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5" name="Google Shape;409;p28"/>
            <p:cNvCxnSpPr/>
            <p:nvPr/>
          </p:nvCxnSpPr>
          <p:spPr>
            <a:xfrm>
              <a:off x="10302953" y="5175925"/>
              <a:ext cx="1103898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6" name="Google Shape;409;p28"/>
            <p:cNvCxnSpPr/>
            <p:nvPr/>
          </p:nvCxnSpPr>
          <p:spPr>
            <a:xfrm>
              <a:off x="11406851" y="3661611"/>
              <a:ext cx="0" cy="151162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01" name="圓角矩形 100"/>
            <p:cNvSpPr/>
            <p:nvPr/>
          </p:nvSpPr>
          <p:spPr>
            <a:xfrm>
              <a:off x="9701032" y="1590067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&lt;responds&gt;</a:t>
              </a:r>
            </a:p>
          </p:txBody>
        </p:sp>
        <p:sp>
          <p:nvSpPr>
            <p:cNvPr id="104" name="圓角矩形 103"/>
            <p:cNvSpPr/>
            <p:nvPr/>
          </p:nvSpPr>
          <p:spPr>
            <a:xfrm>
              <a:off x="10391362" y="3126782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105" name="圓角矩形 104"/>
            <p:cNvSpPr/>
            <p:nvPr/>
          </p:nvSpPr>
          <p:spPr>
            <a:xfrm>
              <a:off x="9877084" y="4627727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69" name="圓角矩形 68"/>
            <p:cNvSpPr/>
            <p:nvPr/>
          </p:nvSpPr>
          <p:spPr>
            <a:xfrm>
              <a:off x="9360355" y="4026849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Retriever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sp>
          <p:nvSpPr>
            <p:cNvPr id="75" name="流程圖: 磁碟 74"/>
            <p:cNvSpPr/>
            <p:nvPr/>
          </p:nvSpPr>
          <p:spPr>
            <a:xfrm>
              <a:off x="5929523" y="3901843"/>
              <a:ext cx="1495562" cy="779092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Knowledge Base</a:t>
              </a:r>
              <a:endParaRPr lang="zh-TW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522202" y="872599"/>
            <a:ext cx="6852629" cy="3921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quality</a:t>
            </a: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Grounding fidelity, Pipeline efficiency, Robustness</a:t>
            </a:r>
          </a:p>
          <a:p>
            <a:pPr algn="just"/>
            <a:endParaRPr lang="en-US" altLang="zh-TW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improvement ideas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</a:p>
          <a:p>
            <a:pPr algn="just">
              <a:lnSpc>
                <a:spcPts val="1125"/>
              </a:lnSpc>
            </a:pPr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What should be the retrieval unit? Document? Passage?</a:t>
            </a:r>
            <a:endParaRPr lang="en-US" altLang="zh-TW" sz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method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Sparse retrieval (BM25) or dense retrieval? Or hybrid?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query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Is user input suitable for direct use as a query?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Rewriting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make passages more comprehensible &amp; include relevant info only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Reranking/adaptive adoption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use only relevant retrieved passages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&amp; Framework design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Deciding when to use retrieval? Multiple rounds of retrieval?</a:t>
            </a:r>
          </a:p>
        </p:txBody>
      </p:sp>
      <p:sp>
        <p:nvSpPr>
          <p:cNvPr id="27" name="文字方塊 26"/>
          <p:cNvSpPr txBox="1"/>
          <p:nvPr/>
        </p:nvSpPr>
        <p:spPr>
          <a:xfrm>
            <a:off x="8683236" y="4713431"/>
            <a:ext cx="21427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45310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字方塊 78"/>
          <p:cNvSpPr txBox="1"/>
          <p:nvPr/>
        </p:nvSpPr>
        <p:spPr>
          <a:xfrm>
            <a:off x="203170" y="296520"/>
            <a:ext cx="883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(Question Answering in specific domain)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4764003" y="1235731"/>
            <a:ext cx="4107996" cy="3110216"/>
            <a:chOff x="5929523" y="1590067"/>
            <a:chExt cx="5477328" cy="4146955"/>
          </a:xfrm>
        </p:grpSpPr>
        <p:cxnSp>
          <p:nvCxnSpPr>
            <p:cNvPr id="102" name="Google Shape;409;p28"/>
            <p:cNvCxnSpPr/>
            <p:nvPr/>
          </p:nvCxnSpPr>
          <p:spPr>
            <a:xfrm flipV="1">
              <a:off x="10296432" y="1806711"/>
              <a:ext cx="0" cy="92374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2" name="Google Shape;409;p28"/>
            <p:cNvCxnSpPr/>
            <p:nvPr/>
          </p:nvCxnSpPr>
          <p:spPr>
            <a:xfrm flipV="1">
              <a:off x="10296432" y="4811119"/>
              <a:ext cx="0" cy="83758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14" name="Google Shape;409;p28"/>
            <p:cNvCxnSpPr/>
            <p:nvPr/>
          </p:nvCxnSpPr>
          <p:spPr>
            <a:xfrm flipV="1">
              <a:off x="9781944" y="3298406"/>
              <a:ext cx="0" cy="99298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26" name="圓角矩形 25"/>
            <p:cNvSpPr/>
            <p:nvPr/>
          </p:nvSpPr>
          <p:spPr>
            <a:xfrm>
              <a:off x="9362596" y="3131775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reference</a:t>
              </a:r>
            </a:p>
          </p:txBody>
        </p:sp>
        <p:sp>
          <p:nvSpPr>
            <p:cNvPr id="71" name="圓角矩形 70"/>
            <p:cNvSpPr/>
            <p:nvPr/>
          </p:nvSpPr>
          <p:spPr>
            <a:xfrm>
              <a:off x="9360355" y="2526910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Generator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cxnSp>
          <p:nvCxnSpPr>
            <p:cNvPr id="77" name="Google Shape;409;p28"/>
            <p:cNvCxnSpPr/>
            <p:nvPr/>
          </p:nvCxnSpPr>
          <p:spPr>
            <a:xfrm>
              <a:off x="7412607" y="4185651"/>
              <a:ext cx="1952657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78" name="Google Shape;409;p28"/>
            <p:cNvCxnSpPr/>
            <p:nvPr/>
          </p:nvCxnSpPr>
          <p:spPr>
            <a:xfrm flipH="1">
              <a:off x="7412608" y="4463716"/>
              <a:ext cx="2021244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85" name="圓角矩形 84"/>
            <p:cNvSpPr/>
            <p:nvPr/>
          </p:nvSpPr>
          <p:spPr>
            <a:xfrm>
              <a:off x="9186544" y="3556043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&lt;factual context&gt;</a:t>
              </a:r>
            </a:p>
          </p:txBody>
        </p:sp>
        <p:sp>
          <p:nvSpPr>
            <p:cNvPr id="86" name="圓角矩形 85"/>
            <p:cNvSpPr/>
            <p:nvPr/>
          </p:nvSpPr>
          <p:spPr>
            <a:xfrm>
              <a:off x="9701032" y="5525546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&lt;user query&gt;</a:t>
              </a:r>
            </a:p>
          </p:txBody>
        </p:sp>
        <p:sp>
          <p:nvSpPr>
            <p:cNvPr id="90" name="圓角矩形 89"/>
            <p:cNvSpPr/>
            <p:nvPr/>
          </p:nvSpPr>
          <p:spPr>
            <a:xfrm>
              <a:off x="7770620" y="4357978"/>
              <a:ext cx="1224144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&lt;retrieval query&gt;</a:t>
              </a:r>
            </a:p>
          </p:txBody>
        </p:sp>
        <p:sp>
          <p:nvSpPr>
            <p:cNvPr id="91" name="圓角矩形 90"/>
            <p:cNvSpPr/>
            <p:nvPr/>
          </p:nvSpPr>
          <p:spPr>
            <a:xfrm>
              <a:off x="7776610" y="4079913"/>
              <a:ext cx="1219742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&lt;retrieved context&gt;</a:t>
              </a:r>
            </a:p>
          </p:txBody>
        </p:sp>
        <p:cxnSp>
          <p:nvCxnSpPr>
            <p:cNvPr id="93" name="Google Shape;409;p28"/>
            <p:cNvCxnSpPr/>
            <p:nvPr/>
          </p:nvCxnSpPr>
          <p:spPr>
            <a:xfrm flipV="1">
              <a:off x="10810710" y="3301665"/>
              <a:ext cx="0" cy="359946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4" name="Google Shape;409;p28"/>
            <p:cNvCxnSpPr/>
            <p:nvPr/>
          </p:nvCxnSpPr>
          <p:spPr>
            <a:xfrm>
              <a:off x="10810710" y="3661611"/>
              <a:ext cx="596141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5" name="Google Shape;409;p28"/>
            <p:cNvCxnSpPr/>
            <p:nvPr/>
          </p:nvCxnSpPr>
          <p:spPr>
            <a:xfrm>
              <a:off x="10302953" y="5175925"/>
              <a:ext cx="1103898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6" name="Google Shape;409;p28"/>
            <p:cNvCxnSpPr/>
            <p:nvPr/>
          </p:nvCxnSpPr>
          <p:spPr>
            <a:xfrm>
              <a:off x="11406851" y="3661611"/>
              <a:ext cx="0" cy="151162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01" name="圓角矩形 100"/>
            <p:cNvSpPr/>
            <p:nvPr/>
          </p:nvSpPr>
          <p:spPr>
            <a:xfrm>
              <a:off x="9701032" y="1590067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&lt;responds&gt;</a:t>
              </a:r>
            </a:p>
          </p:txBody>
        </p:sp>
        <p:sp>
          <p:nvSpPr>
            <p:cNvPr id="104" name="圓角矩形 103"/>
            <p:cNvSpPr/>
            <p:nvPr/>
          </p:nvSpPr>
          <p:spPr>
            <a:xfrm>
              <a:off x="10391362" y="3126782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105" name="圓角矩形 104"/>
            <p:cNvSpPr/>
            <p:nvPr/>
          </p:nvSpPr>
          <p:spPr>
            <a:xfrm>
              <a:off x="9877084" y="4627727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69" name="圓角矩形 68"/>
            <p:cNvSpPr/>
            <p:nvPr/>
          </p:nvSpPr>
          <p:spPr>
            <a:xfrm>
              <a:off x="9360355" y="4026849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Retriever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sp>
          <p:nvSpPr>
            <p:cNvPr id="75" name="流程圖: 磁碟 74"/>
            <p:cNvSpPr/>
            <p:nvPr/>
          </p:nvSpPr>
          <p:spPr>
            <a:xfrm>
              <a:off x="5929523" y="3901843"/>
              <a:ext cx="1495562" cy="779092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Knowledge Base</a:t>
              </a:r>
              <a:endParaRPr lang="zh-TW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522202" y="872599"/>
            <a:ext cx="6852629" cy="3921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quality, Grounding fidelity</a:t>
            </a: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Pipeline efficiency, Robustness</a:t>
            </a:r>
          </a:p>
          <a:p>
            <a:pPr algn="just"/>
            <a:endParaRPr lang="en-US" altLang="zh-TW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improvement ideas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</a:p>
          <a:p>
            <a:pPr algn="just">
              <a:lnSpc>
                <a:spcPts val="1125"/>
              </a:lnSpc>
            </a:pPr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What should be the retrieval unit? Document? Passage?</a:t>
            </a:r>
            <a:endParaRPr lang="en-US" altLang="zh-TW" sz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method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Sparse retrieval (BM25) or dense retrieval? Or hybrid?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query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Is user input suitable for direct use as a query?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Rewriting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make passages more comprehensible &amp; include relevant info only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Reranking/adaptive adoption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use only relevant retrieved passages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&amp; Framework design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Deciding when to use retrieval? Multiple rounds of retrieval?</a:t>
            </a:r>
          </a:p>
        </p:txBody>
      </p:sp>
      <p:sp>
        <p:nvSpPr>
          <p:cNvPr id="27" name="文字方塊 26"/>
          <p:cNvSpPr txBox="1"/>
          <p:nvPr/>
        </p:nvSpPr>
        <p:spPr>
          <a:xfrm>
            <a:off x="8683236" y="4713431"/>
            <a:ext cx="21427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5132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字方塊 78"/>
          <p:cNvSpPr txBox="1"/>
          <p:nvPr/>
        </p:nvSpPr>
        <p:spPr>
          <a:xfrm>
            <a:off x="203170" y="296520"/>
            <a:ext cx="883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(Question Answering in specific domain)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4764003" y="1235731"/>
            <a:ext cx="4107996" cy="3110216"/>
            <a:chOff x="5929523" y="1590067"/>
            <a:chExt cx="5477328" cy="4146955"/>
          </a:xfrm>
        </p:grpSpPr>
        <p:cxnSp>
          <p:nvCxnSpPr>
            <p:cNvPr id="102" name="Google Shape;409;p28"/>
            <p:cNvCxnSpPr/>
            <p:nvPr/>
          </p:nvCxnSpPr>
          <p:spPr>
            <a:xfrm flipV="1">
              <a:off x="10296432" y="1806711"/>
              <a:ext cx="0" cy="92374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2" name="Google Shape;409;p28"/>
            <p:cNvCxnSpPr/>
            <p:nvPr/>
          </p:nvCxnSpPr>
          <p:spPr>
            <a:xfrm flipV="1">
              <a:off x="10296432" y="4811119"/>
              <a:ext cx="0" cy="83758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14" name="Google Shape;409;p28"/>
            <p:cNvCxnSpPr/>
            <p:nvPr/>
          </p:nvCxnSpPr>
          <p:spPr>
            <a:xfrm flipV="1">
              <a:off x="9781944" y="3298406"/>
              <a:ext cx="0" cy="99298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26" name="圓角矩形 25"/>
            <p:cNvSpPr/>
            <p:nvPr/>
          </p:nvSpPr>
          <p:spPr>
            <a:xfrm>
              <a:off x="9362596" y="3131775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reference</a:t>
              </a:r>
            </a:p>
          </p:txBody>
        </p:sp>
        <p:sp>
          <p:nvSpPr>
            <p:cNvPr id="71" name="圓角矩形 70"/>
            <p:cNvSpPr/>
            <p:nvPr/>
          </p:nvSpPr>
          <p:spPr>
            <a:xfrm>
              <a:off x="9360355" y="2526910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Generator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cxnSp>
          <p:nvCxnSpPr>
            <p:cNvPr id="77" name="Google Shape;409;p28"/>
            <p:cNvCxnSpPr/>
            <p:nvPr/>
          </p:nvCxnSpPr>
          <p:spPr>
            <a:xfrm>
              <a:off x="7412607" y="4185651"/>
              <a:ext cx="1952657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78" name="Google Shape;409;p28"/>
            <p:cNvCxnSpPr/>
            <p:nvPr/>
          </p:nvCxnSpPr>
          <p:spPr>
            <a:xfrm flipH="1">
              <a:off x="7412608" y="4463716"/>
              <a:ext cx="2021244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85" name="圓角矩形 84"/>
            <p:cNvSpPr/>
            <p:nvPr/>
          </p:nvSpPr>
          <p:spPr>
            <a:xfrm>
              <a:off x="9186544" y="3556043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&lt;factual context&gt;</a:t>
              </a:r>
            </a:p>
          </p:txBody>
        </p:sp>
        <p:sp>
          <p:nvSpPr>
            <p:cNvPr id="86" name="圓角矩形 85"/>
            <p:cNvSpPr/>
            <p:nvPr/>
          </p:nvSpPr>
          <p:spPr>
            <a:xfrm>
              <a:off x="9701032" y="5525546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&lt;user query&gt;</a:t>
              </a:r>
            </a:p>
          </p:txBody>
        </p:sp>
        <p:sp>
          <p:nvSpPr>
            <p:cNvPr id="90" name="圓角矩形 89"/>
            <p:cNvSpPr/>
            <p:nvPr/>
          </p:nvSpPr>
          <p:spPr>
            <a:xfrm>
              <a:off x="7770620" y="4357978"/>
              <a:ext cx="1224144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&lt;retrieval query&gt;</a:t>
              </a:r>
            </a:p>
          </p:txBody>
        </p:sp>
        <p:sp>
          <p:nvSpPr>
            <p:cNvPr id="91" name="圓角矩形 90"/>
            <p:cNvSpPr/>
            <p:nvPr/>
          </p:nvSpPr>
          <p:spPr>
            <a:xfrm>
              <a:off x="7776610" y="4079913"/>
              <a:ext cx="1219742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&lt;retrieved context&gt;</a:t>
              </a:r>
            </a:p>
          </p:txBody>
        </p:sp>
        <p:cxnSp>
          <p:nvCxnSpPr>
            <p:cNvPr id="93" name="Google Shape;409;p28"/>
            <p:cNvCxnSpPr/>
            <p:nvPr/>
          </p:nvCxnSpPr>
          <p:spPr>
            <a:xfrm flipV="1">
              <a:off x="10810710" y="3301665"/>
              <a:ext cx="0" cy="359946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4" name="Google Shape;409;p28"/>
            <p:cNvCxnSpPr/>
            <p:nvPr/>
          </p:nvCxnSpPr>
          <p:spPr>
            <a:xfrm>
              <a:off x="10810710" y="3661611"/>
              <a:ext cx="596141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5" name="Google Shape;409;p28"/>
            <p:cNvCxnSpPr/>
            <p:nvPr/>
          </p:nvCxnSpPr>
          <p:spPr>
            <a:xfrm>
              <a:off x="10302953" y="5175925"/>
              <a:ext cx="1103898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6" name="Google Shape;409;p28"/>
            <p:cNvCxnSpPr/>
            <p:nvPr/>
          </p:nvCxnSpPr>
          <p:spPr>
            <a:xfrm>
              <a:off x="11406851" y="3661611"/>
              <a:ext cx="0" cy="151162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01" name="圓角矩形 100"/>
            <p:cNvSpPr/>
            <p:nvPr/>
          </p:nvSpPr>
          <p:spPr>
            <a:xfrm>
              <a:off x="9701032" y="1590067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&lt;responds&gt;</a:t>
              </a:r>
            </a:p>
          </p:txBody>
        </p:sp>
        <p:sp>
          <p:nvSpPr>
            <p:cNvPr id="104" name="圓角矩形 103"/>
            <p:cNvSpPr/>
            <p:nvPr/>
          </p:nvSpPr>
          <p:spPr>
            <a:xfrm>
              <a:off x="10391362" y="3126782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105" name="圓角矩形 104"/>
            <p:cNvSpPr/>
            <p:nvPr/>
          </p:nvSpPr>
          <p:spPr>
            <a:xfrm>
              <a:off x="9877084" y="4627727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69" name="圓角矩形 68"/>
            <p:cNvSpPr/>
            <p:nvPr/>
          </p:nvSpPr>
          <p:spPr>
            <a:xfrm>
              <a:off x="9360355" y="4026849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Retriever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sp>
          <p:nvSpPr>
            <p:cNvPr id="75" name="流程圖: 磁碟 74"/>
            <p:cNvSpPr/>
            <p:nvPr/>
          </p:nvSpPr>
          <p:spPr>
            <a:xfrm>
              <a:off x="5929523" y="3901843"/>
              <a:ext cx="1495562" cy="779092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Knowledge Base</a:t>
              </a:r>
              <a:endParaRPr lang="zh-TW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522202" y="872599"/>
            <a:ext cx="6852629" cy="3921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quality, Grounding fidelity, Pipeline efficiency</a:t>
            </a: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Robustness</a:t>
            </a:r>
          </a:p>
          <a:p>
            <a:pPr algn="just"/>
            <a:endParaRPr lang="en-US" altLang="zh-TW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improvement ideas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</a:p>
          <a:p>
            <a:pPr algn="just">
              <a:lnSpc>
                <a:spcPts val="1125"/>
              </a:lnSpc>
            </a:pPr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What should be the retrieval unit? Document? Passage?</a:t>
            </a:r>
            <a:endParaRPr lang="en-US" altLang="zh-TW" sz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method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Sparse retrieval (BM25) or dense retrieval? Or hybrid?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query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Is user input suitable for direct use as a query?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Rewriting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make passages more comprehensible &amp; include relevant info only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Reranking/adaptive adoption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use only relevant retrieved passages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&amp; Framework design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Deciding when to use retrieval? Multiple rounds of retrieval?</a:t>
            </a:r>
          </a:p>
        </p:txBody>
      </p:sp>
      <p:sp>
        <p:nvSpPr>
          <p:cNvPr id="27" name="文字方塊 26"/>
          <p:cNvSpPr txBox="1"/>
          <p:nvPr/>
        </p:nvSpPr>
        <p:spPr>
          <a:xfrm>
            <a:off x="8683236" y="4713431"/>
            <a:ext cx="21427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07816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字方塊 78"/>
          <p:cNvSpPr txBox="1"/>
          <p:nvPr/>
        </p:nvSpPr>
        <p:spPr>
          <a:xfrm>
            <a:off x="203170" y="296520"/>
            <a:ext cx="883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(Question Answering in specific domain)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4764003" y="1235731"/>
            <a:ext cx="4107996" cy="3110216"/>
            <a:chOff x="5929523" y="1590067"/>
            <a:chExt cx="5477328" cy="4146955"/>
          </a:xfrm>
        </p:grpSpPr>
        <p:cxnSp>
          <p:nvCxnSpPr>
            <p:cNvPr id="102" name="Google Shape;409;p28"/>
            <p:cNvCxnSpPr/>
            <p:nvPr/>
          </p:nvCxnSpPr>
          <p:spPr>
            <a:xfrm flipV="1">
              <a:off x="10296432" y="1806711"/>
              <a:ext cx="0" cy="92374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2" name="Google Shape;409;p28"/>
            <p:cNvCxnSpPr/>
            <p:nvPr/>
          </p:nvCxnSpPr>
          <p:spPr>
            <a:xfrm flipV="1">
              <a:off x="10296432" y="4811119"/>
              <a:ext cx="0" cy="83758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14" name="Google Shape;409;p28"/>
            <p:cNvCxnSpPr/>
            <p:nvPr/>
          </p:nvCxnSpPr>
          <p:spPr>
            <a:xfrm flipV="1">
              <a:off x="9781944" y="3298406"/>
              <a:ext cx="0" cy="99298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26" name="圓角矩形 25"/>
            <p:cNvSpPr/>
            <p:nvPr/>
          </p:nvSpPr>
          <p:spPr>
            <a:xfrm>
              <a:off x="9362596" y="3131775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reference</a:t>
              </a:r>
            </a:p>
          </p:txBody>
        </p:sp>
        <p:sp>
          <p:nvSpPr>
            <p:cNvPr id="71" name="圓角矩形 70"/>
            <p:cNvSpPr/>
            <p:nvPr/>
          </p:nvSpPr>
          <p:spPr>
            <a:xfrm>
              <a:off x="9360355" y="2526910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Generator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cxnSp>
          <p:nvCxnSpPr>
            <p:cNvPr id="77" name="Google Shape;409;p28"/>
            <p:cNvCxnSpPr/>
            <p:nvPr/>
          </p:nvCxnSpPr>
          <p:spPr>
            <a:xfrm>
              <a:off x="7412607" y="4185651"/>
              <a:ext cx="1952657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78" name="Google Shape;409;p28"/>
            <p:cNvCxnSpPr/>
            <p:nvPr/>
          </p:nvCxnSpPr>
          <p:spPr>
            <a:xfrm flipH="1">
              <a:off x="7412608" y="4463716"/>
              <a:ext cx="2021244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85" name="圓角矩形 84"/>
            <p:cNvSpPr/>
            <p:nvPr/>
          </p:nvSpPr>
          <p:spPr>
            <a:xfrm>
              <a:off x="9186544" y="3556043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&lt;factual context&gt;</a:t>
              </a:r>
            </a:p>
          </p:txBody>
        </p:sp>
        <p:sp>
          <p:nvSpPr>
            <p:cNvPr id="86" name="圓角矩形 85"/>
            <p:cNvSpPr/>
            <p:nvPr/>
          </p:nvSpPr>
          <p:spPr>
            <a:xfrm>
              <a:off x="9701032" y="5525546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&lt;user query&gt;</a:t>
              </a:r>
            </a:p>
          </p:txBody>
        </p:sp>
        <p:sp>
          <p:nvSpPr>
            <p:cNvPr id="90" name="圓角矩形 89"/>
            <p:cNvSpPr/>
            <p:nvPr/>
          </p:nvSpPr>
          <p:spPr>
            <a:xfrm>
              <a:off x="7770620" y="4357978"/>
              <a:ext cx="1224144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&lt;retrieval query&gt;</a:t>
              </a:r>
            </a:p>
          </p:txBody>
        </p:sp>
        <p:sp>
          <p:nvSpPr>
            <p:cNvPr id="91" name="圓角矩形 90"/>
            <p:cNvSpPr/>
            <p:nvPr/>
          </p:nvSpPr>
          <p:spPr>
            <a:xfrm>
              <a:off x="7776610" y="4079913"/>
              <a:ext cx="1219742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&lt;retrieved context&gt;</a:t>
              </a:r>
            </a:p>
          </p:txBody>
        </p:sp>
        <p:cxnSp>
          <p:nvCxnSpPr>
            <p:cNvPr id="93" name="Google Shape;409;p28"/>
            <p:cNvCxnSpPr/>
            <p:nvPr/>
          </p:nvCxnSpPr>
          <p:spPr>
            <a:xfrm flipV="1">
              <a:off x="10810710" y="3301665"/>
              <a:ext cx="0" cy="359946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4" name="Google Shape;409;p28"/>
            <p:cNvCxnSpPr/>
            <p:nvPr/>
          </p:nvCxnSpPr>
          <p:spPr>
            <a:xfrm>
              <a:off x="10810710" y="3661611"/>
              <a:ext cx="596141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5" name="Google Shape;409;p28"/>
            <p:cNvCxnSpPr/>
            <p:nvPr/>
          </p:nvCxnSpPr>
          <p:spPr>
            <a:xfrm>
              <a:off x="10302953" y="5175925"/>
              <a:ext cx="1103898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6" name="Google Shape;409;p28"/>
            <p:cNvCxnSpPr/>
            <p:nvPr/>
          </p:nvCxnSpPr>
          <p:spPr>
            <a:xfrm>
              <a:off x="11406851" y="3661611"/>
              <a:ext cx="0" cy="151162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01" name="圓角矩形 100"/>
            <p:cNvSpPr/>
            <p:nvPr/>
          </p:nvSpPr>
          <p:spPr>
            <a:xfrm>
              <a:off x="9701032" y="1590067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&lt;responds&gt;</a:t>
              </a:r>
            </a:p>
          </p:txBody>
        </p:sp>
        <p:sp>
          <p:nvSpPr>
            <p:cNvPr id="104" name="圓角矩形 103"/>
            <p:cNvSpPr/>
            <p:nvPr/>
          </p:nvSpPr>
          <p:spPr>
            <a:xfrm>
              <a:off x="10391362" y="3126782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105" name="圓角矩形 104"/>
            <p:cNvSpPr/>
            <p:nvPr/>
          </p:nvSpPr>
          <p:spPr>
            <a:xfrm>
              <a:off x="9877084" y="4627727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69" name="圓角矩形 68"/>
            <p:cNvSpPr/>
            <p:nvPr/>
          </p:nvSpPr>
          <p:spPr>
            <a:xfrm>
              <a:off x="9360355" y="4026849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Retriever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sp>
          <p:nvSpPr>
            <p:cNvPr id="75" name="流程圖: 磁碟 74"/>
            <p:cNvSpPr/>
            <p:nvPr/>
          </p:nvSpPr>
          <p:spPr>
            <a:xfrm>
              <a:off x="5929523" y="3901843"/>
              <a:ext cx="1495562" cy="779092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Knowledge Base</a:t>
              </a:r>
              <a:endParaRPr lang="zh-TW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522202" y="872599"/>
            <a:ext cx="6852629" cy="3921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quality, Grounding fidelity, Pipeline efficiency, Robustness</a:t>
            </a:r>
          </a:p>
          <a:p>
            <a:pPr algn="just"/>
            <a:endParaRPr lang="en-US" altLang="zh-TW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improvement ideas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</a:p>
          <a:p>
            <a:pPr algn="just">
              <a:lnSpc>
                <a:spcPts val="1125"/>
              </a:lnSpc>
            </a:pPr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What should be the retrieval unit? Document? Passage?</a:t>
            </a:r>
            <a:endParaRPr lang="en-US" altLang="zh-TW" sz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method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Sparse retrieval (BM25) or dense retrieval? Or hybrid?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query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Is user input suitable for direct use as a query?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Rewriting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make passages more comprehensible &amp; include relevant info only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Reranking/adaptive adoption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use only relevant retrieved passages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&amp; Framework design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Deciding when to use retrieval? Multiple rounds of retrieval?</a:t>
            </a:r>
          </a:p>
        </p:txBody>
      </p:sp>
      <p:sp>
        <p:nvSpPr>
          <p:cNvPr id="27" name="文字方塊 26"/>
          <p:cNvSpPr txBox="1"/>
          <p:nvPr/>
        </p:nvSpPr>
        <p:spPr>
          <a:xfrm>
            <a:off x="8683236" y="4713431"/>
            <a:ext cx="21427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2171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字方塊 78"/>
          <p:cNvSpPr txBox="1"/>
          <p:nvPr/>
        </p:nvSpPr>
        <p:spPr>
          <a:xfrm>
            <a:off x="203170" y="296520"/>
            <a:ext cx="883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(Question Answering in specific domain)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4764003" y="1235731"/>
            <a:ext cx="4107996" cy="3110216"/>
            <a:chOff x="5929523" y="1590067"/>
            <a:chExt cx="5477328" cy="4146955"/>
          </a:xfrm>
        </p:grpSpPr>
        <p:cxnSp>
          <p:nvCxnSpPr>
            <p:cNvPr id="102" name="Google Shape;409;p28"/>
            <p:cNvCxnSpPr/>
            <p:nvPr/>
          </p:nvCxnSpPr>
          <p:spPr>
            <a:xfrm flipV="1">
              <a:off x="10296432" y="1806711"/>
              <a:ext cx="0" cy="92374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2" name="Google Shape;409;p28"/>
            <p:cNvCxnSpPr/>
            <p:nvPr/>
          </p:nvCxnSpPr>
          <p:spPr>
            <a:xfrm flipV="1">
              <a:off x="10296432" y="4811119"/>
              <a:ext cx="0" cy="83758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14" name="Google Shape;409;p28"/>
            <p:cNvCxnSpPr/>
            <p:nvPr/>
          </p:nvCxnSpPr>
          <p:spPr>
            <a:xfrm flipV="1">
              <a:off x="9781944" y="3298406"/>
              <a:ext cx="0" cy="99298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26" name="圓角矩形 25"/>
            <p:cNvSpPr/>
            <p:nvPr/>
          </p:nvSpPr>
          <p:spPr>
            <a:xfrm>
              <a:off x="9362596" y="3131775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reference</a:t>
              </a:r>
            </a:p>
          </p:txBody>
        </p:sp>
        <p:sp>
          <p:nvSpPr>
            <p:cNvPr id="71" name="圓角矩形 70"/>
            <p:cNvSpPr/>
            <p:nvPr/>
          </p:nvSpPr>
          <p:spPr>
            <a:xfrm>
              <a:off x="9360355" y="2526910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Generator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cxnSp>
          <p:nvCxnSpPr>
            <p:cNvPr id="77" name="Google Shape;409;p28"/>
            <p:cNvCxnSpPr/>
            <p:nvPr/>
          </p:nvCxnSpPr>
          <p:spPr>
            <a:xfrm>
              <a:off x="7412607" y="4185651"/>
              <a:ext cx="1952657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78" name="Google Shape;409;p28"/>
            <p:cNvCxnSpPr/>
            <p:nvPr/>
          </p:nvCxnSpPr>
          <p:spPr>
            <a:xfrm flipH="1">
              <a:off x="7412608" y="4463716"/>
              <a:ext cx="2021244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85" name="圓角矩形 84"/>
            <p:cNvSpPr/>
            <p:nvPr/>
          </p:nvSpPr>
          <p:spPr>
            <a:xfrm>
              <a:off x="9186544" y="3556043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&lt;factual context&gt;</a:t>
              </a:r>
            </a:p>
          </p:txBody>
        </p:sp>
        <p:sp>
          <p:nvSpPr>
            <p:cNvPr id="86" name="圓角矩形 85"/>
            <p:cNvSpPr/>
            <p:nvPr/>
          </p:nvSpPr>
          <p:spPr>
            <a:xfrm>
              <a:off x="9701032" y="5525546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&lt;user query&gt;</a:t>
              </a:r>
            </a:p>
          </p:txBody>
        </p:sp>
        <p:sp>
          <p:nvSpPr>
            <p:cNvPr id="90" name="圓角矩形 89"/>
            <p:cNvSpPr/>
            <p:nvPr/>
          </p:nvSpPr>
          <p:spPr>
            <a:xfrm>
              <a:off x="7770620" y="4357978"/>
              <a:ext cx="1224144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&lt;retrieval query&gt;</a:t>
              </a:r>
            </a:p>
          </p:txBody>
        </p:sp>
        <p:sp>
          <p:nvSpPr>
            <p:cNvPr id="91" name="圓角矩形 90"/>
            <p:cNvSpPr/>
            <p:nvPr/>
          </p:nvSpPr>
          <p:spPr>
            <a:xfrm>
              <a:off x="7776610" y="4079913"/>
              <a:ext cx="1219742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&lt;retrieved context&gt;</a:t>
              </a:r>
            </a:p>
          </p:txBody>
        </p:sp>
        <p:cxnSp>
          <p:nvCxnSpPr>
            <p:cNvPr id="93" name="Google Shape;409;p28"/>
            <p:cNvCxnSpPr/>
            <p:nvPr/>
          </p:nvCxnSpPr>
          <p:spPr>
            <a:xfrm flipV="1">
              <a:off x="10810710" y="3301665"/>
              <a:ext cx="0" cy="359946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4" name="Google Shape;409;p28"/>
            <p:cNvCxnSpPr/>
            <p:nvPr/>
          </p:nvCxnSpPr>
          <p:spPr>
            <a:xfrm>
              <a:off x="10810710" y="3661611"/>
              <a:ext cx="596141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5" name="Google Shape;409;p28"/>
            <p:cNvCxnSpPr/>
            <p:nvPr/>
          </p:nvCxnSpPr>
          <p:spPr>
            <a:xfrm>
              <a:off x="10302953" y="5175925"/>
              <a:ext cx="1103898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6" name="Google Shape;409;p28"/>
            <p:cNvCxnSpPr/>
            <p:nvPr/>
          </p:nvCxnSpPr>
          <p:spPr>
            <a:xfrm>
              <a:off x="11406851" y="3661611"/>
              <a:ext cx="0" cy="151162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01" name="圓角矩形 100"/>
            <p:cNvSpPr/>
            <p:nvPr/>
          </p:nvSpPr>
          <p:spPr>
            <a:xfrm>
              <a:off x="9701032" y="1590067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&lt;responds&gt;</a:t>
              </a:r>
            </a:p>
          </p:txBody>
        </p:sp>
        <p:sp>
          <p:nvSpPr>
            <p:cNvPr id="104" name="圓角矩形 103"/>
            <p:cNvSpPr/>
            <p:nvPr/>
          </p:nvSpPr>
          <p:spPr>
            <a:xfrm>
              <a:off x="10391362" y="3126782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105" name="圓角矩形 104"/>
            <p:cNvSpPr/>
            <p:nvPr/>
          </p:nvSpPr>
          <p:spPr>
            <a:xfrm>
              <a:off x="9877084" y="4627727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69" name="圓角矩形 68"/>
            <p:cNvSpPr/>
            <p:nvPr/>
          </p:nvSpPr>
          <p:spPr>
            <a:xfrm>
              <a:off x="9360355" y="4026849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Retriever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sp>
          <p:nvSpPr>
            <p:cNvPr id="75" name="流程圖: 磁碟 74"/>
            <p:cNvSpPr/>
            <p:nvPr/>
          </p:nvSpPr>
          <p:spPr>
            <a:xfrm>
              <a:off x="5929523" y="3901843"/>
              <a:ext cx="1495562" cy="779092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Knowledge Base</a:t>
              </a:r>
              <a:endParaRPr lang="zh-TW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522202" y="872599"/>
            <a:ext cx="6852629" cy="3921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quality, Grounding fidelity, Pipeline efficiency, Robustness</a:t>
            </a:r>
          </a:p>
          <a:p>
            <a:pPr algn="just"/>
            <a:endParaRPr lang="en-US" altLang="zh-TW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improvement ideas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</a:p>
          <a:p>
            <a:pPr algn="just">
              <a:lnSpc>
                <a:spcPts val="1125"/>
              </a:lnSpc>
            </a:pPr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What should be the retrieval unit? Document? Passage?</a:t>
            </a:r>
            <a:endParaRPr lang="en-US" altLang="zh-TW" sz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method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Sparse retrieval (BM25) or dense retrieval? Or hybrid?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query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Is user input suitable for direct use as a query?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Rewriting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make passages more comprehensible &amp; include relevant info only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Reranking/adaptive adoption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use only relevant retrieved passages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&amp; Framework design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Deciding when to use retrieval? Multiple rounds of retrieval?</a:t>
            </a:r>
          </a:p>
        </p:txBody>
      </p:sp>
      <p:sp>
        <p:nvSpPr>
          <p:cNvPr id="27" name="文字方塊 26"/>
          <p:cNvSpPr txBox="1"/>
          <p:nvPr/>
        </p:nvSpPr>
        <p:spPr>
          <a:xfrm>
            <a:off x="8683236" y="4713431"/>
            <a:ext cx="21427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28318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字方塊 78"/>
          <p:cNvSpPr txBox="1"/>
          <p:nvPr/>
        </p:nvSpPr>
        <p:spPr>
          <a:xfrm>
            <a:off x="203170" y="296520"/>
            <a:ext cx="883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(Question Answering in specific domain)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4764003" y="1235731"/>
            <a:ext cx="4107996" cy="3110216"/>
            <a:chOff x="5929523" y="1590067"/>
            <a:chExt cx="5477328" cy="4146955"/>
          </a:xfrm>
        </p:grpSpPr>
        <p:cxnSp>
          <p:nvCxnSpPr>
            <p:cNvPr id="102" name="Google Shape;409;p28"/>
            <p:cNvCxnSpPr/>
            <p:nvPr/>
          </p:nvCxnSpPr>
          <p:spPr>
            <a:xfrm flipV="1">
              <a:off x="10296432" y="1806711"/>
              <a:ext cx="0" cy="92374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2" name="Google Shape;409;p28"/>
            <p:cNvCxnSpPr/>
            <p:nvPr/>
          </p:nvCxnSpPr>
          <p:spPr>
            <a:xfrm flipV="1">
              <a:off x="10296432" y="4811119"/>
              <a:ext cx="0" cy="83758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14" name="Google Shape;409;p28"/>
            <p:cNvCxnSpPr/>
            <p:nvPr/>
          </p:nvCxnSpPr>
          <p:spPr>
            <a:xfrm flipV="1">
              <a:off x="9781944" y="3298406"/>
              <a:ext cx="0" cy="99298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26" name="圓角矩形 25"/>
            <p:cNvSpPr/>
            <p:nvPr/>
          </p:nvSpPr>
          <p:spPr>
            <a:xfrm>
              <a:off x="9362596" y="3131775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reference</a:t>
              </a:r>
            </a:p>
          </p:txBody>
        </p:sp>
        <p:sp>
          <p:nvSpPr>
            <p:cNvPr id="71" name="圓角矩形 70"/>
            <p:cNvSpPr/>
            <p:nvPr/>
          </p:nvSpPr>
          <p:spPr>
            <a:xfrm>
              <a:off x="9360355" y="2526910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Generator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cxnSp>
          <p:nvCxnSpPr>
            <p:cNvPr id="77" name="Google Shape;409;p28"/>
            <p:cNvCxnSpPr/>
            <p:nvPr/>
          </p:nvCxnSpPr>
          <p:spPr>
            <a:xfrm>
              <a:off x="7412607" y="4185651"/>
              <a:ext cx="1952657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78" name="Google Shape;409;p28"/>
            <p:cNvCxnSpPr/>
            <p:nvPr/>
          </p:nvCxnSpPr>
          <p:spPr>
            <a:xfrm flipH="1">
              <a:off x="7412608" y="4463716"/>
              <a:ext cx="2021244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85" name="圓角矩形 84"/>
            <p:cNvSpPr/>
            <p:nvPr/>
          </p:nvSpPr>
          <p:spPr>
            <a:xfrm>
              <a:off x="9186544" y="3556043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&lt;factual context&gt;</a:t>
              </a:r>
            </a:p>
          </p:txBody>
        </p:sp>
        <p:sp>
          <p:nvSpPr>
            <p:cNvPr id="86" name="圓角矩形 85"/>
            <p:cNvSpPr/>
            <p:nvPr/>
          </p:nvSpPr>
          <p:spPr>
            <a:xfrm>
              <a:off x="9701032" y="5525546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&lt;user query&gt;</a:t>
              </a:r>
            </a:p>
          </p:txBody>
        </p:sp>
        <p:sp>
          <p:nvSpPr>
            <p:cNvPr id="90" name="圓角矩形 89"/>
            <p:cNvSpPr/>
            <p:nvPr/>
          </p:nvSpPr>
          <p:spPr>
            <a:xfrm>
              <a:off x="7770620" y="4357978"/>
              <a:ext cx="1224144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&lt;retrieval query&gt;</a:t>
              </a:r>
            </a:p>
          </p:txBody>
        </p:sp>
        <p:sp>
          <p:nvSpPr>
            <p:cNvPr id="91" name="圓角矩形 90"/>
            <p:cNvSpPr/>
            <p:nvPr/>
          </p:nvSpPr>
          <p:spPr>
            <a:xfrm>
              <a:off x="7776610" y="4079913"/>
              <a:ext cx="1219742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&lt;retrieved context&gt;</a:t>
              </a:r>
            </a:p>
          </p:txBody>
        </p:sp>
        <p:cxnSp>
          <p:nvCxnSpPr>
            <p:cNvPr id="93" name="Google Shape;409;p28"/>
            <p:cNvCxnSpPr/>
            <p:nvPr/>
          </p:nvCxnSpPr>
          <p:spPr>
            <a:xfrm flipV="1">
              <a:off x="10810710" y="3301665"/>
              <a:ext cx="0" cy="359946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4" name="Google Shape;409;p28"/>
            <p:cNvCxnSpPr/>
            <p:nvPr/>
          </p:nvCxnSpPr>
          <p:spPr>
            <a:xfrm>
              <a:off x="10810710" y="3661611"/>
              <a:ext cx="596141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5" name="Google Shape;409;p28"/>
            <p:cNvCxnSpPr/>
            <p:nvPr/>
          </p:nvCxnSpPr>
          <p:spPr>
            <a:xfrm>
              <a:off x="10302953" y="5175925"/>
              <a:ext cx="1103898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6" name="Google Shape;409;p28"/>
            <p:cNvCxnSpPr/>
            <p:nvPr/>
          </p:nvCxnSpPr>
          <p:spPr>
            <a:xfrm>
              <a:off x="11406851" y="3661611"/>
              <a:ext cx="0" cy="151162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01" name="圓角矩形 100"/>
            <p:cNvSpPr/>
            <p:nvPr/>
          </p:nvSpPr>
          <p:spPr>
            <a:xfrm>
              <a:off x="9701032" y="1590067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&lt;responds&gt;</a:t>
              </a:r>
            </a:p>
          </p:txBody>
        </p:sp>
        <p:sp>
          <p:nvSpPr>
            <p:cNvPr id="104" name="圓角矩形 103"/>
            <p:cNvSpPr/>
            <p:nvPr/>
          </p:nvSpPr>
          <p:spPr>
            <a:xfrm>
              <a:off x="10391362" y="3126782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105" name="圓角矩形 104"/>
            <p:cNvSpPr/>
            <p:nvPr/>
          </p:nvSpPr>
          <p:spPr>
            <a:xfrm>
              <a:off x="9877084" y="4627727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69" name="圓角矩形 68"/>
            <p:cNvSpPr/>
            <p:nvPr/>
          </p:nvSpPr>
          <p:spPr>
            <a:xfrm>
              <a:off x="9360355" y="4026849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Retriever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sp>
          <p:nvSpPr>
            <p:cNvPr id="75" name="流程圖: 磁碟 74"/>
            <p:cNvSpPr/>
            <p:nvPr/>
          </p:nvSpPr>
          <p:spPr>
            <a:xfrm>
              <a:off x="5929523" y="3901843"/>
              <a:ext cx="1495562" cy="779092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Knowledge Base</a:t>
              </a:r>
              <a:endParaRPr lang="zh-TW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522202" y="872599"/>
            <a:ext cx="6852629" cy="3921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quality, Grounding fidelity, Pipeline efficiency, Robustness</a:t>
            </a:r>
          </a:p>
          <a:p>
            <a:pPr algn="just"/>
            <a:endParaRPr lang="en-US" altLang="zh-TW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improvement ideas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</a:p>
          <a:p>
            <a:pPr algn="just">
              <a:lnSpc>
                <a:spcPts val="1125"/>
              </a:lnSpc>
            </a:pPr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What should be the retrieval unit? Document? Passage?</a:t>
            </a:r>
            <a:endParaRPr lang="en-US" altLang="zh-TW" sz="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method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Sparse retrieval (BM25) or dense retrieval? Or hybrid?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query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Is user input suitable for direct use as a query?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Rewriting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make passages more comprehensible &amp; include relevant info only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Reranking/adaptive adoption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use only relevant retrieved passages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&amp; Framework design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Deciding when to use retrieval? Multiple rounds of retrieval?</a:t>
            </a:r>
          </a:p>
        </p:txBody>
      </p:sp>
      <p:sp>
        <p:nvSpPr>
          <p:cNvPr id="27" name="文字方塊 26"/>
          <p:cNvSpPr txBox="1"/>
          <p:nvPr/>
        </p:nvSpPr>
        <p:spPr>
          <a:xfrm>
            <a:off x="8683236" y="4713431"/>
            <a:ext cx="21427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5" name="直線單箭頭接點 4"/>
          <p:cNvCxnSpPr/>
          <p:nvPr/>
        </p:nvCxnSpPr>
        <p:spPr>
          <a:xfrm flipV="1">
            <a:off x="5360194" y="3518169"/>
            <a:ext cx="0" cy="26670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691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字方塊 78"/>
          <p:cNvSpPr txBox="1"/>
          <p:nvPr/>
        </p:nvSpPr>
        <p:spPr>
          <a:xfrm>
            <a:off x="203170" y="296520"/>
            <a:ext cx="883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(Question Answering in specific domain)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4764003" y="1235731"/>
            <a:ext cx="4107996" cy="3110216"/>
            <a:chOff x="5929523" y="1590067"/>
            <a:chExt cx="5477328" cy="4146955"/>
          </a:xfrm>
        </p:grpSpPr>
        <p:cxnSp>
          <p:nvCxnSpPr>
            <p:cNvPr id="102" name="Google Shape;409;p28"/>
            <p:cNvCxnSpPr/>
            <p:nvPr/>
          </p:nvCxnSpPr>
          <p:spPr>
            <a:xfrm flipV="1">
              <a:off x="10296432" y="1806711"/>
              <a:ext cx="0" cy="92374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2" name="Google Shape;409;p28"/>
            <p:cNvCxnSpPr/>
            <p:nvPr/>
          </p:nvCxnSpPr>
          <p:spPr>
            <a:xfrm flipV="1">
              <a:off x="10296432" y="4811119"/>
              <a:ext cx="0" cy="83758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14" name="Google Shape;409;p28"/>
            <p:cNvCxnSpPr/>
            <p:nvPr/>
          </p:nvCxnSpPr>
          <p:spPr>
            <a:xfrm flipV="1">
              <a:off x="9781944" y="3298406"/>
              <a:ext cx="0" cy="99298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26" name="圓角矩形 25"/>
            <p:cNvSpPr/>
            <p:nvPr/>
          </p:nvSpPr>
          <p:spPr>
            <a:xfrm>
              <a:off x="9362596" y="3131775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reference</a:t>
              </a:r>
            </a:p>
          </p:txBody>
        </p:sp>
        <p:sp>
          <p:nvSpPr>
            <p:cNvPr id="71" name="圓角矩形 70"/>
            <p:cNvSpPr/>
            <p:nvPr/>
          </p:nvSpPr>
          <p:spPr>
            <a:xfrm>
              <a:off x="9360355" y="2526910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Generator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cxnSp>
          <p:nvCxnSpPr>
            <p:cNvPr id="77" name="Google Shape;409;p28"/>
            <p:cNvCxnSpPr/>
            <p:nvPr/>
          </p:nvCxnSpPr>
          <p:spPr>
            <a:xfrm>
              <a:off x="7412607" y="4185651"/>
              <a:ext cx="1952657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78" name="Google Shape;409;p28"/>
            <p:cNvCxnSpPr/>
            <p:nvPr/>
          </p:nvCxnSpPr>
          <p:spPr>
            <a:xfrm flipH="1">
              <a:off x="7412608" y="4463716"/>
              <a:ext cx="2021244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85" name="圓角矩形 84"/>
            <p:cNvSpPr/>
            <p:nvPr/>
          </p:nvSpPr>
          <p:spPr>
            <a:xfrm>
              <a:off x="9186544" y="3556043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&lt;factual context&gt;</a:t>
              </a:r>
            </a:p>
          </p:txBody>
        </p:sp>
        <p:sp>
          <p:nvSpPr>
            <p:cNvPr id="86" name="圓角矩形 85"/>
            <p:cNvSpPr/>
            <p:nvPr/>
          </p:nvSpPr>
          <p:spPr>
            <a:xfrm>
              <a:off x="9701032" y="5525546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&lt;user query&gt;</a:t>
              </a:r>
            </a:p>
          </p:txBody>
        </p:sp>
        <p:sp>
          <p:nvSpPr>
            <p:cNvPr id="90" name="圓角矩形 89"/>
            <p:cNvSpPr/>
            <p:nvPr/>
          </p:nvSpPr>
          <p:spPr>
            <a:xfrm>
              <a:off x="7770620" y="4357978"/>
              <a:ext cx="1224144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&lt;retrieval query&gt;</a:t>
              </a:r>
            </a:p>
          </p:txBody>
        </p:sp>
        <p:sp>
          <p:nvSpPr>
            <p:cNvPr id="91" name="圓角矩形 90"/>
            <p:cNvSpPr/>
            <p:nvPr/>
          </p:nvSpPr>
          <p:spPr>
            <a:xfrm>
              <a:off x="7776610" y="4079913"/>
              <a:ext cx="1219742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&lt;retrieved context&gt;</a:t>
              </a:r>
            </a:p>
          </p:txBody>
        </p:sp>
        <p:cxnSp>
          <p:nvCxnSpPr>
            <p:cNvPr id="93" name="Google Shape;409;p28"/>
            <p:cNvCxnSpPr/>
            <p:nvPr/>
          </p:nvCxnSpPr>
          <p:spPr>
            <a:xfrm flipV="1">
              <a:off x="10810710" y="3301665"/>
              <a:ext cx="0" cy="359946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4" name="Google Shape;409;p28"/>
            <p:cNvCxnSpPr/>
            <p:nvPr/>
          </p:nvCxnSpPr>
          <p:spPr>
            <a:xfrm>
              <a:off x="10810710" y="3661611"/>
              <a:ext cx="596141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5" name="Google Shape;409;p28"/>
            <p:cNvCxnSpPr/>
            <p:nvPr/>
          </p:nvCxnSpPr>
          <p:spPr>
            <a:xfrm>
              <a:off x="10302953" y="5175925"/>
              <a:ext cx="1103898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6" name="Google Shape;409;p28"/>
            <p:cNvCxnSpPr/>
            <p:nvPr/>
          </p:nvCxnSpPr>
          <p:spPr>
            <a:xfrm>
              <a:off x="11406851" y="3661611"/>
              <a:ext cx="0" cy="151162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01" name="圓角矩形 100"/>
            <p:cNvSpPr/>
            <p:nvPr/>
          </p:nvSpPr>
          <p:spPr>
            <a:xfrm>
              <a:off x="9701032" y="1590067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&lt;responds&gt;</a:t>
              </a:r>
            </a:p>
          </p:txBody>
        </p:sp>
        <p:sp>
          <p:nvSpPr>
            <p:cNvPr id="104" name="圓角矩形 103"/>
            <p:cNvSpPr/>
            <p:nvPr/>
          </p:nvSpPr>
          <p:spPr>
            <a:xfrm>
              <a:off x="10391362" y="3126782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105" name="圓角矩形 104"/>
            <p:cNvSpPr/>
            <p:nvPr/>
          </p:nvSpPr>
          <p:spPr>
            <a:xfrm>
              <a:off x="9877084" y="4627727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69" name="圓角矩形 68"/>
            <p:cNvSpPr/>
            <p:nvPr/>
          </p:nvSpPr>
          <p:spPr>
            <a:xfrm>
              <a:off x="9360355" y="4026849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Retriever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sp>
          <p:nvSpPr>
            <p:cNvPr id="75" name="流程圖: 磁碟 74"/>
            <p:cNvSpPr/>
            <p:nvPr/>
          </p:nvSpPr>
          <p:spPr>
            <a:xfrm>
              <a:off x="5929523" y="3901843"/>
              <a:ext cx="1495562" cy="779092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Knowledge Base</a:t>
              </a:r>
              <a:endParaRPr lang="zh-TW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522202" y="872599"/>
            <a:ext cx="6852629" cy="3921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quality, Grounding fidelity, Pipeline efficiency, Robustness</a:t>
            </a:r>
          </a:p>
          <a:p>
            <a:pPr algn="just"/>
            <a:endParaRPr lang="en-US" altLang="zh-TW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improvement ideas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</a:p>
          <a:p>
            <a:pPr algn="just">
              <a:lnSpc>
                <a:spcPts val="1125"/>
              </a:lnSpc>
            </a:pPr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What should be the retrieval unit? Document? Passage?</a:t>
            </a:r>
            <a:endParaRPr lang="en-US" altLang="zh-TW" sz="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method</a:t>
            </a:r>
          </a:p>
          <a:p>
            <a:pPr algn="just"/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Sparse retrieval (BM25) or dense retrieval? Or hybrid?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query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Is user input suitable for direct use as a query?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Rewriting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make passages more comprehensible &amp; include relevant info only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Reranking/adaptive adoption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use only relevant retrieved passages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&amp; Framework design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Deciding when to use retrieval? Multiple rounds of retrieval?</a:t>
            </a:r>
          </a:p>
        </p:txBody>
      </p:sp>
      <p:sp>
        <p:nvSpPr>
          <p:cNvPr id="27" name="文字方塊 26"/>
          <p:cNvSpPr txBox="1"/>
          <p:nvPr/>
        </p:nvSpPr>
        <p:spPr>
          <a:xfrm>
            <a:off x="8683236" y="4713431"/>
            <a:ext cx="21427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29" name="直線單箭頭接點 28"/>
          <p:cNvCxnSpPr/>
          <p:nvPr/>
        </p:nvCxnSpPr>
        <p:spPr>
          <a:xfrm flipV="1">
            <a:off x="6161495" y="3420531"/>
            <a:ext cx="0" cy="26670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892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字方塊 78"/>
          <p:cNvSpPr txBox="1"/>
          <p:nvPr/>
        </p:nvSpPr>
        <p:spPr>
          <a:xfrm>
            <a:off x="203170" y="296520"/>
            <a:ext cx="883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(Question Answering in specific domain)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4764003" y="1235731"/>
            <a:ext cx="4107996" cy="3110216"/>
            <a:chOff x="5929523" y="1590067"/>
            <a:chExt cx="5477328" cy="4146955"/>
          </a:xfrm>
        </p:grpSpPr>
        <p:cxnSp>
          <p:nvCxnSpPr>
            <p:cNvPr id="102" name="Google Shape;409;p28"/>
            <p:cNvCxnSpPr/>
            <p:nvPr/>
          </p:nvCxnSpPr>
          <p:spPr>
            <a:xfrm flipV="1">
              <a:off x="10296432" y="1806711"/>
              <a:ext cx="0" cy="92374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2" name="Google Shape;409;p28"/>
            <p:cNvCxnSpPr/>
            <p:nvPr/>
          </p:nvCxnSpPr>
          <p:spPr>
            <a:xfrm flipV="1">
              <a:off x="10296432" y="4811119"/>
              <a:ext cx="0" cy="83758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14" name="Google Shape;409;p28"/>
            <p:cNvCxnSpPr/>
            <p:nvPr/>
          </p:nvCxnSpPr>
          <p:spPr>
            <a:xfrm flipV="1">
              <a:off x="9781944" y="3298406"/>
              <a:ext cx="0" cy="99298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26" name="圓角矩形 25"/>
            <p:cNvSpPr/>
            <p:nvPr/>
          </p:nvSpPr>
          <p:spPr>
            <a:xfrm>
              <a:off x="9362596" y="3131775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reference</a:t>
              </a:r>
            </a:p>
          </p:txBody>
        </p:sp>
        <p:sp>
          <p:nvSpPr>
            <p:cNvPr id="71" name="圓角矩形 70"/>
            <p:cNvSpPr/>
            <p:nvPr/>
          </p:nvSpPr>
          <p:spPr>
            <a:xfrm>
              <a:off x="9360355" y="2526910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Generator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cxnSp>
          <p:nvCxnSpPr>
            <p:cNvPr id="77" name="Google Shape;409;p28"/>
            <p:cNvCxnSpPr/>
            <p:nvPr/>
          </p:nvCxnSpPr>
          <p:spPr>
            <a:xfrm>
              <a:off x="7412607" y="4185651"/>
              <a:ext cx="1952657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78" name="Google Shape;409;p28"/>
            <p:cNvCxnSpPr/>
            <p:nvPr/>
          </p:nvCxnSpPr>
          <p:spPr>
            <a:xfrm flipH="1">
              <a:off x="7412608" y="4463716"/>
              <a:ext cx="2021244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85" name="圓角矩形 84"/>
            <p:cNvSpPr/>
            <p:nvPr/>
          </p:nvSpPr>
          <p:spPr>
            <a:xfrm>
              <a:off x="9186544" y="3556043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&lt;factual context&gt;</a:t>
              </a:r>
            </a:p>
          </p:txBody>
        </p:sp>
        <p:sp>
          <p:nvSpPr>
            <p:cNvPr id="86" name="圓角矩形 85"/>
            <p:cNvSpPr/>
            <p:nvPr/>
          </p:nvSpPr>
          <p:spPr>
            <a:xfrm>
              <a:off x="9701032" y="5525546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&lt;user query&gt;</a:t>
              </a:r>
            </a:p>
          </p:txBody>
        </p:sp>
        <p:sp>
          <p:nvSpPr>
            <p:cNvPr id="90" name="圓角矩形 89"/>
            <p:cNvSpPr/>
            <p:nvPr/>
          </p:nvSpPr>
          <p:spPr>
            <a:xfrm>
              <a:off x="7770620" y="4357978"/>
              <a:ext cx="1224144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&lt;retrieval query&gt;</a:t>
              </a:r>
            </a:p>
          </p:txBody>
        </p:sp>
        <p:sp>
          <p:nvSpPr>
            <p:cNvPr id="91" name="圓角矩形 90"/>
            <p:cNvSpPr/>
            <p:nvPr/>
          </p:nvSpPr>
          <p:spPr>
            <a:xfrm>
              <a:off x="7776610" y="4079913"/>
              <a:ext cx="1219742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&lt;retrieved context&gt;</a:t>
              </a:r>
            </a:p>
          </p:txBody>
        </p:sp>
        <p:cxnSp>
          <p:nvCxnSpPr>
            <p:cNvPr id="93" name="Google Shape;409;p28"/>
            <p:cNvCxnSpPr/>
            <p:nvPr/>
          </p:nvCxnSpPr>
          <p:spPr>
            <a:xfrm flipV="1">
              <a:off x="10810710" y="3301665"/>
              <a:ext cx="0" cy="359946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4" name="Google Shape;409;p28"/>
            <p:cNvCxnSpPr/>
            <p:nvPr/>
          </p:nvCxnSpPr>
          <p:spPr>
            <a:xfrm>
              <a:off x="10810710" y="3661611"/>
              <a:ext cx="596141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5" name="Google Shape;409;p28"/>
            <p:cNvCxnSpPr/>
            <p:nvPr/>
          </p:nvCxnSpPr>
          <p:spPr>
            <a:xfrm>
              <a:off x="10302953" y="5175925"/>
              <a:ext cx="1103898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6" name="Google Shape;409;p28"/>
            <p:cNvCxnSpPr/>
            <p:nvPr/>
          </p:nvCxnSpPr>
          <p:spPr>
            <a:xfrm>
              <a:off x="11406851" y="3661611"/>
              <a:ext cx="0" cy="151162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01" name="圓角矩形 100"/>
            <p:cNvSpPr/>
            <p:nvPr/>
          </p:nvSpPr>
          <p:spPr>
            <a:xfrm>
              <a:off x="9701032" y="1590067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&lt;responds&gt;</a:t>
              </a:r>
            </a:p>
          </p:txBody>
        </p:sp>
        <p:sp>
          <p:nvSpPr>
            <p:cNvPr id="104" name="圓角矩形 103"/>
            <p:cNvSpPr/>
            <p:nvPr/>
          </p:nvSpPr>
          <p:spPr>
            <a:xfrm>
              <a:off x="10391362" y="3126782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105" name="圓角矩形 104"/>
            <p:cNvSpPr/>
            <p:nvPr/>
          </p:nvSpPr>
          <p:spPr>
            <a:xfrm>
              <a:off x="9877084" y="4627727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69" name="圓角矩形 68"/>
            <p:cNvSpPr/>
            <p:nvPr/>
          </p:nvSpPr>
          <p:spPr>
            <a:xfrm>
              <a:off x="9360355" y="4026849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Retriever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sp>
          <p:nvSpPr>
            <p:cNvPr id="75" name="流程圖: 磁碟 74"/>
            <p:cNvSpPr/>
            <p:nvPr/>
          </p:nvSpPr>
          <p:spPr>
            <a:xfrm>
              <a:off x="5929523" y="3901843"/>
              <a:ext cx="1495562" cy="779092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Knowledge Base</a:t>
              </a:r>
              <a:endParaRPr lang="zh-TW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522202" y="872599"/>
            <a:ext cx="6852629" cy="3921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quality, Grounding fidelity, Pipeline efficiency, Robustness</a:t>
            </a:r>
          </a:p>
          <a:p>
            <a:pPr algn="just"/>
            <a:endParaRPr lang="en-US" altLang="zh-TW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improvement ideas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</a:p>
          <a:p>
            <a:pPr algn="just">
              <a:lnSpc>
                <a:spcPts val="1125"/>
              </a:lnSpc>
            </a:pPr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What should be the retrieval unit? Document? Passage?</a:t>
            </a:r>
            <a:endParaRPr lang="en-US" altLang="zh-TW" sz="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method</a:t>
            </a:r>
          </a:p>
          <a:p>
            <a:pPr algn="just"/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Sparse retrieval (BM25) or dense retrieval? Or hybrid?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query</a:t>
            </a:r>
          </a:p>
          <a:p>
            <a:pPr algn="just"/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Is user input suitable for direct use as a query?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Rewriting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make passages more comprehensible &amp; include relevant info only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Reranking/adaptive adoption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use only relevant retrieved passages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&amp; Framework design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Deciding when to use retrieval? Multiple rounds of retrieval?</a:t>
            </a:r>
          </a:p>
        </p:txBody>
      </p:sp>
      <p:sp>
        <p:nvSpPr>
          <p:cNvPr id="27" name="文字方塊 26"/>
          <p:cNvSpPr txBox="1"/>
          <p:nvPr/>
        </p:nvSpPr>
        <p:spPr>
          <a:xfrm>
            <a:off x="8683236" y="4713431"/>
            <a:ext cx="21427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29" name="直線單箭頭接點 28"/>
          <p:cNvCxnSpPr/>
          <p:nvPr/>
        </p:nvCxnSpPr>
        <p:spPr>
          <a:xfrm flipV="1">
            <a:off x="7138988" y="3390967"/>
            <a:ext cx="0" cy="26670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99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字方塊 78"/>
          <p:cNvSpPr txBox="1"/>
          <p:nvPr/>
        </p:nvSpPr>
        <p:spPr>
          <a:xfrm>
            <a:off x="203170" y="296520"/>
            <a:ext cx="883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(Question Answering in specific domain)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4764003" y="1235731"/>
            <a:ext cx="4107996" cy="3110216"/>
            <a:chOff x="5929523" y="1590067"/>
            <a:chExt cx="5477328" cy="4146955"/>
          </a:xfrm>
        </p:grpSpPr>
        <p:cxnSp>
          <p:nvCxnSpPr>
            <p:cNvPr id="102" name="Google Shape;409;p28"/>
            <p:cNvCxnSpPr/>
            <p:nvPr/>
          </p:nvCxnSpPr>
          <p:spPr>
            <a:xfrm flipV="1">
              <a:off x="10296432" y="1806711"/>
              <a:ext cx="0" cy="92374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2" name="Google Shape;409;p28"/>
            <p:cNvCxnSpPr/>
            <p:nvPr/>
          </p:nvCxnSpPr>
          <p:spPr>
            <a:xfrm flipV="1">
              <a:off x="10296432" y="4811119"/>
              <a:ext cx="0" cy="83758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14" name="Google Shape;409;p28"/>
            <p:cNvCxnSpPr/>
            <p:nvPr/>
          </p:nvCxnSpPr>
          <p:spPr>
            <a:xfrm flipV="1">
              <a:off x="9781944" y="3298406"/>
              <a:ext cx="0" cy="99298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26" name="圓角矩形 25"/>
            <p:cNvSpPr/>
            <p:nvPr/>
          </p:nvSpPr>
          <p:spPr>
            <a:xfrm>
              <a:off x="9362596" y="3131775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reference</a:t>
              </a:r>
            </a:p>
          </p:txBody>
        </p:sp>
        <p:sp>
          <p:nvSpPr>
            <p:cNvPr id="71" name="圓角矩形 70"/>
            <p:cNvSpPr/>
            <p:nvPr/>
          </p:nvSpPr>
          <p:spPr>
            <a:xfrm>
              <a:off x="9360355" y="2526910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Generator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cxnSp>
          <p:nvCxnSpPr>
            <p:cNvPr id="77" name="Google Shape;409;p28"/>
            <p:cNvCxnSpPr/>
            <p:nvPr/>
          </p:nvCxnSpPr>
          <p:spPr>
            <a:xfrm>
              <a:off x="7412607" y="4185651"/>
              <a:ext cx="1952657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78" name="Google Shape;409;p28"/>
            <p:cNvCxnSpPr/>
            <p:nvPr/>
          </p:nvCxnSpPr>
          <p:spPr>
            <a:xfrm flipH="1">
              <a:off x="7412608" y="4463716"/>
              <a:ext cx="2021244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85" name="圓角矩形 84"/>
            <p:cNvSpPr/>
            <p:nvPr/>
          </p:nvSpPr>
          <p:spPr>
            <a:xfrm>
              <a:off x="9186544" y="3556043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&lt;factual context&gt;</a:t>
              </a:r>
            </a:p>
          </p:txBody>
        </p:sp>
        <p:sp>
          <p:nvSpPr>
            <p:cNvPr id="86" name="圓角矩形 85"/>
            <p:cNvSpPr/>
            <p:nvPr/>
          </p:nvSpPr>
          <p:spPr>
            <a:xfrm>
              <a:off x="9701032" y="5525546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&lt;user query&gt;</a:t>
              </a:r>
            </a:p>
          </p:txBody>
        </p:sp>
        <p:sp>
          <p:nvSpPr>
            <p:cNvPr id="90" name="圓角矩形 89"/>
            <p:cNvSpPr/>
            <p:nvPr/>
          </p:nvSpPr>
          <p:spPr>
            <a:xfrm>
              <a:off x="7770620" y="4357978"/>
              <a:ext cx="1224144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&lt;retrieval query&gt;</a:t>
              </a:r>
            </a:p>
          </p:txBody>
        </p:sp>
        <p:sp>
          <p:nvSpPr>
            <p:cNvPr id="91" name="圓角矩形 90"/>
            <p:cNvSpPr/>
            <p:nvPr/>
          </p:nvSpPr>
          <p:spPr>
            <a:xfrm>
              <a:off x="7776610" y="4079913"/>
              <a:ext cx="1219742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&lt;retrieved context&gt;</a:t>
              </a:r>
            </a:p>
          </p:txBody>
        </p:sp>
        <p:cxnSp>
          <p:nvCxnSpPr>
            <p:cNvPr id="93" name="Google Shape;409;p28"/>
            <p:cNvCxnSpPr/>
            <p:nvPr/>
          </p:nvCxnSpPr>
          <p:spPr>
            <a:xfrm flipV="1">
              <a:off x="10810710" y="3301665"/>
              <a:ext cx="0" cy="359946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4" name="Google Shape;409;p28"/>
            <p:cNvCxnSpPr/>
            <p:nvPr/>
          </p:nvCxnSpPr>
          <p:spPr>
            <a:xfrm>
              <a:off x="10810710" y="3661611"/>
              <a:ext cx="596141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5" name="Google Shape;409;p28"/>
            <p:cNvCxnSpPr/>
            <p:nvPr/>
          </p:nvCxnSpPr>
          <p:spPr>
            <a:xfrm>
              <a:off x="10302953" y="5175925"/>
              <a:ext cx="1103898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6" name="Google Shape;409;p28"/>
            <p:cNvCxnSpPr/>
            <p:nvPr/>
          </p:nvCxnSpPr>
          <p:spPr>
            <a:xfrm>
              <a:off x="11406851" y="3661611"/>
              <a:ext cx="0" cy="151162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01" name="圓角矩形 100"/>
            <p:cNvSpPr/>
            <p:nvPr/>
          </p:nvSpPr>
          <p:spPr>
            <a:xfrm>
              <a:off x="9701032" y="1590067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&lt;responds&gt;</a:t>
              </a:r>
            </a:p>
          </p:txBody>
        </p:sp>
        <p:sp>
          <p:nvSpPr>
            <p:cNvPr id="104" name="圓角矩形 103"/>
            <p:cNvSpPr/>
            <p:nvPr/>
          </p:nvSpPr>
          <p:spPr>
            <a:xfrm>
              <a:off x="10391362" y="3126782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105" name="圓角矩形 104"/>
            <p:cNvSpPr/>
            <p:nvPr/>
          </p:nvSpPr>
          <p:spPr>
            <a:xfrm>
              <a:off x="9877084" y="4627727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69" name="圓角矩形 68"/>
            <p:cNvSpPr/>
            <p:nvPr/>
          </p:nvSpPr>
          <p:spPr>
            <a:xfrm>
              <a:off x="9360355" y="4026849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Retriever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sp>
          <p:nvSpPr>
            <p:cNvPr id="75" name="流程圖: 磁碟 74"/>
            <p:cNvSpPr/>
            <p:nvPr/>
          </p:nvSpPr>
          <p:spPr>
            <a:xfrm>
              <a:off x="5929523" y="3901843"/>
              <a:ext cx="1495562" cy="779092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Knowledge Base</a:t>
              </a:r>
              <a:endParaRPr lang="zh-TW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522202" y="872599"/>
            <a:ext cx="6852629" cy="3921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quality, Grounding fidelity, Pipeline efficiency, Robustness</a:t>
            </a:r>
          </a:p>
          <a:p>
            <a:pPr algn="just"/>
            <a:endParaRPr lang="en-US" altLang="zh-TW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improvement ideas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</a:p>
          <a:p>
            <a:pPr algn="just">
              <a:lnSpc>
                <a:spcPts val="1125"/>
              </a:lnSpc>
            </a:pPr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What should be the retrieval unit? Document? Passage?</a:t>
            </a:r>
            <a:endParaRPr lang="en-US" altLang="zh-TW" sz="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method</a:t>
            </a:r>
          </a:p>
          <a:p>
            <a:pPr algn="just"/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Sparse retrieval (BM25) or dense retrieval? Or hybrid?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query</a:t>
            </a:r>
          </a:p>
          <a:p>
            <a:pPr algn="just"/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Is user input suitable for direct use as a query?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Rewriting</a:t>
            </a:r>
          </a:p>
          <a:p>
            <a:pPr algn="just"/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make passages more comprehensible &amp; include relevant info only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Reranking/adaptive adoption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use only relevant retrieved passages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&amp; Framework design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Deciding when to use retrieval? Multiple rounds of retrieval?</a:t>
            </a:r>
          </a:p>
        </p:txBody>
      </p:sp>
      <p:sp>
        <p:nvSpPr>
          <p:cNvPr id="27" name="文字方塊 26"/>
          <p:cNvSpPr txBox="1"/>
          <p:nvPr/>
        </p:nvSpPr>
        <p:spPr>
          <a:xfrm>
            <a:off x="8683236" y="4713431"/>
            <a:ext cx="21427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29" name="直線單箭頭接點 28"/>
          <p:cNvCxnSpPr/>
          <p:nvPr/>
        </p:nvCxnSpPr>
        <p:spPr>
          <a:xfrm flipV="1">
            <a:off x="7521094" y="2868819"/>
            <a:ext cx="0" cy="26670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763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字方塊 78"/>
          <p:cNvSpPr txBox="1"/>
          <p:nvPr/>
        </p:nvSpPr>
        <p:spPr>
          <a:xfrm>
            <a:off x="203170" y="296520"/>
            <a:ext cx="883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(Question Answering in specific domain)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4764003" y="1235731"/>
            <a:ext cx="4107996" cy="3110216"/>
            <a:chOff x="5929523" y="1590067"/>
            <a:chExt cx="5477328" cy="4146955"/>
          </a:xfrm>
        </p:grpSpPr>
        <p:cxnSp>
          <p:nvCxnSpPr>
            <p:cNvPr id="102" name="Google Shape;409;p28"/>
            <p:cNvCxnSpPr/>
            <p:nvPr/>
          </p:nvCxnSpPr>
          <p:spPr>
            <a:xfrm flipV="1">
              <a:off x="10296432" y="1806711"/>
              <a:ext cx="0" cy="92374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2" name="Google Shape;409;p28"/>
            <p:cNvCxnSpPr/>
            <p:nvPr/>
          </p:nvCxnSpPr>
          <p:spPr>
            <a:xfrm flipV="1">
              <a:off x="10296432" y="4811119"/>
              <a:ext cx="0" cy="83758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14" name="Google Shape;409;p28"/>
            <p:cNvCxnSpPr/>
            <p:nvPr/>
          </p:nvCxnSpPr>
          <p:spPr>
            <a:xfrm flipV="1">
              <a:off x="9781944" y="3298406"/>
              <a:ext cx="0" cy="99298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26" name="圓角矩形 25"/>
            <p:cNvSpPr/>
            <p:nvPr/>
          </p:nvSpPr>
          <p:spPr>
            <a:xfrm>
              <a:off x="9362596" y="3131775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reference</a:t>
              </a:r>
            </a:p>
          </p:txBody>
        </p:sp>
        <p:sp>
          <p:nvSpPr>
            <p:cNvPr id="71" name="圓角矩形 70"/>
            <p:cNvSpPr/>
            <p:nvPr/>
          </p:nvSpPr>
          <p:spPr>
            <a:xfrm>
              <a:off x="9360355" y="2526910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Generator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cxnSp>
          <p:nvCxnSpPr>
            <p:cNvPr id="77" name="Google Shape;409;p28"/>
            <p:cNvCxnSpPr/>
            <p:nvPr/>
          </p:nvCxnSpPr>
          <p:spPr>
            <a:xfrm>
              <a:off x="7412607" y="4185651"/>
              <a:ext cx="1952657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78" name="Google Shape;409;p28"/>
            <p:cNvCxnSpPr/>
            <p:nvPr/>
          </p:nvCxnSpPr>
          <p:spPr>
            <a:xfrm flipH="1">
              <a:off x="7412608" y="4463716"/>
              <a:ext cx="2021244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85" name="圓角矩形 84"/>
            <p:cNvSpPr/>
            <p:nvPr/>
          </p:nvSpPr>
          <p:spPr>
            <a:xfrm>
              <a:off x="9186544" y="3556043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&lt;factual context&gt;</a:t>
              </a:r>
            </a:p>
          </p:txBody>
        </p:sp>
        <p:sp>
          <p:nvSpPr>
            <p:cNvPr id="86" name="圓角矩形 85"/>
            <p:cNvSpPr/>
            <p:nvPr/>
          </p:nvSpPr>
          <p:spPr>
            <a:xfrm>
              <a:off x="9701032" y="5525546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&lt;user query&gt;</a:t>
              </a:r>
            </a:p>
          </p:txBody>
        </p:sp>
        <p:sp>
          <p:nvSpPr>
            <p:cNvPr id="90" name="圓角矩形 89"/>
            <p:cNvSpPr/>
            <p:nvPr/>
          </p:nvSpPr>
          <p:spPr>
            <a:xfrm>
              <a:off x="7770620" y="4357978"/>
              <a:ext cx="1224144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&lt;retrieval query&gt;</a:t>
              </a:r>
            </a:p>
          </p:txBody>
        </p:sp>
        <p:sp>
          <p:nvSpPr>
            <p:cNvPr id="91" name="圓角矩形 90"/>
            <p:cNvSpPr/>
            <p:nvPr/>
          </p:nvSpPr>
          <p:spPr>
            <a:xfrm>
              <a:off x="7776610" y="4079913"/>
              <a:ext cx="1219742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&lt;retrieved context&gt;</a:t>
              </a:r>
            </a:p>
          </p:txBody>
        </p:sp>
        <p:cxnSp>
          <p:nvCxnSpPr>
            <p:cNvPr id="93" name="Google Shape;409;p28"/>
            <p:cNvCxnSpPr/>
            <p:nvPr/>
          </p:nvCxnSpPr>
          <p:spPr>
            <a:xfrm flipV="1">
              <a:off x="10810710" y="3301665"/>
              <a:ext cx="0" cy="359946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4" name="Google Shape;409;p28"/>
            <p:cNvCxnSpPr/>
            <p:nvPr/>
          </p:nvCxnSpPr>
          <p:spPr>
            <a:xfrm>
              <a:off x="10810710" y="3661611"/>
              <a:ext cx="596141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5" name="Google Shape;409;p28"/>
            <p:cNvCxnSpPr/>
            <p:nvPr/>
          </p:nvCxnSpPr>
          <p:spPr>
            <a:xfrm>
              <a:off x="10302953" y="5175925"/>
              <a:ext cx="1103898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6" name="Google Shape;409;p28"/>
            <p:cNvCxnSpPr/>
            <p:nvPr/>
          </p:nvCxnSpPr>
          <p:spPr>
            <a:xfrm>
              <a:off x="11406851" y="3661611"/>
              <a:ext cx="0" cy="151162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01" name="圓角矩形 100"/>
            <p:cNvSpPr/>
            <p:nvPr/>
          </p:nvSpPr>
          <p:spPr>
            <a:xfrm>
              <a:off x="9701032" y="1590067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&lt;responds&gt;</a:t>
              </a:r>
            </a:p>
          </p:txBody>
        </p:sp>
        <p:sp>
          <p:nvSpPr>
            <p:cNvPr id="104" name="圓角矩形 103"/>
            <p:cNvSpPr/>
            <p:nvPr/>
          </p:nvSpPr>
          <p:spPr>
            <a:xfrm>
              <a:off x="10391362" y="3126782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105" name="圓角矩形 104"/>
            <p:cNvSpPr/>
            <p:nvPr/>
          </p:nvSpPr>
          <p:spPr>
            <a:xfrm>
              <a:off x="9877084" y="4627727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69" name="圓角矩形 68"/>
            <p:cNvSpPr/>
            <p:nvPr/>
          </p:nvSpPr>
          <p:spPr>
            <a:xfrm>
              <a:off x="9360355" y="4026849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Retriever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sp>
          <p:nvSpPr>
            <p:cNvPr id="75" name="流程圖: 磁碟 74"/>
            <p:cNvSpPr/>
            <p:nvPr/>
          </p:nvSpPr>
          <p:spPr>
            <a:xfrm>
              <a:off x="5929523" y="3901843"/>
              <a:ext cx="1495562" cy="779092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Knowledge Base</a:t>
              </a:r>
              <a:endParaRPr lang="zh-TW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522202" y="872599"/>
            <a:ext cx="6852629" cy="3921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quality, Grounding fidelity, Pipeline efficiency, Robustness</a:t>
            </a:r>
          </a:p>
          <a:p>
            <a:pPr algn="just"/>
            <a:endParaRPr lang="en-US" altLang="zh-TW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improvement ideas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</a:p>
          <a:p>
            <a:pPr algn="just">
              <a:lnSpc>
                <a:spcPts val="1125"/>
              </a:lnSpc>
            </a:pPr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What should be the retrieval unit? Document? Passage?</a:t>
            </a:r>
            <a:endParaRPr lang="en-US" altLang="zh-TW" sz="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method</a:t>
            </a:r>
          </a:p>
          <a:p>
            <a:pPr algn="just"/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Sparse retrieval (BM25) or dense retrieval? Or hybrid?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query</a:t>
            </a:r>
          </a:p>
          <a:p>
            <a:pPr algn="just"/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Is user input suitable for direct use as a query?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Rewriting</a:t>
            </a:r>
          </a:p>
          <a:p>
            <a:pPr algn="just"/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make passages more comprehensible &amp; include relevant info only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Reranking/adaptive adoption</a:t>
            </a:r>
          </a:p>
          <a:p>
            <a:pPr algn="just"/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use only relevant retrieved passages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&amp; Framework design</a:t>
            </a:r>
          </a:p>
          <a:p>
            <a:pPr algn="just"/>
            <a:r>
              <a:rPr lang="en-US" altLang="zh-TW" sz="10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Deciding when to use retrieval? Multiple rounds of retrieval?</a:t>
            </a:r>
          </a:p>
        </p:txBody>
      </p:sp>
      <p:sp>
        <p:nvSpPr>
          <p:cNvPr id="27" name="文字方塊 26"/>
          <p:cNvSpPr txBox="1"/>
          <p:nvPr/>
        </p:nvSpPr>
        <p:spPr>
          <a:xfrm>
            <a:off x="8683236" y="4713431"/>
            <a:ext cx="21427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29" name="直線單箭頭接點 28"/>
          <p:cNvCxnSpPr/>
          <p:nvPr/>
        </p:nvCxnSpPr>
        <p:spPr>
          <a:xfrm flipV="1">
            <a:off x="7889081" y="2868819"/>
            <a:ext cx="0" cy="26670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545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字方塊 27"/>
          <p:cNvSpPr txBox="1"/>
          <p:nvPr/>
        </p:nvSpPr>
        <p:spPr>
          <a:xfrm>
            <a:off x="522202" y="872599"/>
            <a:ext cx="6852629" cy="3921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quality, Grounding fidelity, Pipeline efficiency, Robustness</a:t>
            </a:r>
          </a:p>
          <a:p>
            <a:pPr algn="just"/>
            <a:endParaRPr lang="en-US" altLang="zh-TW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improvement ideas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</a:p>
          <a:p>
            <a:pPr algn="just">
              <a:lnSpc>
                <a:spcPts val="1125"/>
              </a:lnSpc>
            </a:pPr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What should be the retrieval unit? Document? Passage?</a:t>
            </a:r>
            <a:endParaRPr lang="en-US" altLang="zh-TW" sz="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method</a:t>
            </a:r>
          </a:p>
          <a:p>
            <a:pPr algn="just"/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Sparse retrieval (BM25) or dense retrieval? Or hybrid?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query</a:t>
            </a:r>
          </a:p>
          <a:p>
            <a:pPr algn="just"/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Is user input suitable for direct use as a query?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Rewriting</a:t>
            </a:r>
          </a:p>
          <a:p>
            <a:pPr algn="just"/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make passages more comprehensible &amp; include relevant info only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Reranking/adaptive adoption</a:t>
            </a:r>
          </a:p>
          <a:p>
            <a:pPr algn="just"/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use only relevant retrieved passages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altLang="zh-TW" sz="3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&amp; Framework design</a:t>
            </a:r>
          </a:p>
          <a:p>
            <a:pPr algn="just"/>
            <a:r>
              <a:rPr lang="en-US" altLang="zh-TW" sz="1013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Deciding when to use retrieval? Multiple rounds of retrieval?</a:t>
            </a:r>
          </a:p>
        </p:txBody>
      </p:sp>
      <p:sp>
        <p:nvSpPr>
          <p:cNvPr id="79" name="文字方塊 78"/>
          <p:cNvSpPr txBox="1"/>
          <p:nvPr/>
        </p:nvSpPr>
        <p:spPr>
          <a:xfrm>
            <a:off x="203170" y="296520"/>
            <a:ext cx="883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(Question Answering in specific domain)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4764003" y="1235731"/>
            <a:ext cx="4107996" cy="3110216"/>
            <a:chOff x="5929523" y="1590067"/>
            <a:chExt cx="5477328" cy="4146955"/>
          </a:xfrm>
        </p:grpSpPr>
        <p:cxnSp>
          <p:nvCxnSpPr>
            <p:cNvPr id="102" name="Google Shape;409;p28"/>
            <p:cNvCxnSpPr/>
            <p:nvPr/>
          </p:nvCxnSpPr>
          <p:spPr>
            <a:xfrm flipV="1">
              <a:off x="10296432" y="1806711"/>
              <a:ext cx="0" cy="92374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2" name="Google Shape;409;p28"/>
            <p:cNvCxnSpPr/>
            <p:nvPr/>
          </p:nvCxnSpPr>
          <p:spPr>
            <a:xfrm flipV="1">
              <a:off x="10296432" y="4811119"/>
              <a:ext cx="0" cy="83758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14" name="Google Shape;409;p28"/>
            <p:cNvCxnSpPr/>
            <p:nvPr/>
          </p:nvCxnSpPr>
          <p:spPr>
            <a:xfrm flipV="1">
              <a:off x="9781944" y="3298406"/>
              <a:ext cx="0" cy="992983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26" name="圓角矩形 25"/>
            <p:cNvSpPr/>
            <p:nvPr/>
          </p:nvSpPr>
          <p:spPr>
            <a:xfrm>
              <a:off x="9362596" y="3131775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reference</a:t>
              </a:r>
            </a:p>
          </p:txBody>
        </p:sp>
        <p:sp>
          <p:nvSpPr>
            <p:cNvPr id="71" name="圓角矩形 70"/>
            <p:cNvSpPr/>
            <p:nvPr/>
          </p:nvSpPr>
          <p:spPr>
            <a:xfrm>
              <a:off x="9360355" y="2526910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Generator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cxnSp>
          <p:nvCxnSpPr>
            <p:cNvPr id="77" name="Google Shape;409;p28"/>
            <p:cNvCxnSpPr/>
            <p:nvPr/>
          </p:nvCxnSpPr>
          <p:spPr>
            <a:xfrm>
              <a:off x="7412607" y="4185651"/>
              <a:ext cx="1952657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78" name="Google Shape;409;p28"/>
            <p:cNvCxnSpPr/>
            <p:nvPr/>
          </p:nvCxnSpPr>
          <p:spPr>
            <a:xfrm flipH="1">
              <a:off x="7412608" y="4463716"/>
              <a:ext cx="2021244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85" name="圓角矩形 84"/>
            <p:cNvSpPr/>
            <p:nvPr/>
          </p:nvSpPr>
          <p:spPr>
            <a:xfrm>
              <a:off x="9186544" y="3556043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&lt;factual context&gt;</a:t>
              </a:r>
            </a:p>
          </p:txBody>
        </p:sp>
        <p:sp>
          <p:nvSpPr>
            <p:cNvPr id="86" name="圓角矩形 85"/>
            <p:cNvSpPr/>
            <p:nvPr/>
          </p:nvSpPr>
          <p:spPr>
            <a:xfrm>
              <a:off x="9701032" y="5525546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&lt;user query&gt;</a:t>
              </a:r>
            </a:p>
          </p:txBody>
        </p:sp>
        <p:sp>
          <p:nvSpPr>
            <p:cNvPr id="90" name="圓角矩形 89"/>
            <p:cNvSpPr/>
            <p:nvPr/>
          </p:nvSpPr>
          <p:spPr>
            <a:xfrm>
              <a:off x="7770620" y="4357978"/>
              <a:ext cx="1224144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&lt;retrieval query&gt;</a:t>
              </a:r>
            </a:p>
          </p:txBody>
        </p:sp>
        <p:sp>
          <p:nvSpPr>
            <p:cNvPr id="91" name="圓角矩形 90"/>
            <p:cNvSpPr/>
            <p:nvPr/>
          </p:nvSpPr>
          <p:spPr>
            <a:xfrm>
              <a:off x="7776610" y="4079913"/>
              <a:ext cx="1219742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&lt;retrieved context&gt;</a:t>
              </a:r>
            </a:p>
          </p:txBody>
        </p:sp>
        <p:cxnSp>
          <p:nvCxnSpPr>
            <p:cNvPr id="93" name="Google Shape;409;p28"/>
            <p:cNvCxnSpPr/>
            <p:nvPr/>
          </p:nvCxnSpPr>
          <p:spPr>
            <a:xfrm flipV="1">
              <a:off x="10810710" y="3301665"/>
              <a:ext cx="0" cy="359946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4" name="Google Shape;409;p28"/>
            <p:cNvCxnSpPr/>
            <p:nvPr/>
          </p:nvCxnSpPr>
          <p:spPr>
            <a:xfrm>
              <a:off x="10810710" y="3661611"/>
              <a:ext cx="596141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5" name="Google Shape;409;p28"/>
            <p:cNvCxnSpPr/>
            <p:nvPr/>
          </p:nvCxnSpPr>
          <p:spPr>
            <a:xfrm>
              <a:off x="10302953" y="5175925"/>
              <a:ext cx="1103898" cy="0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6" name="Google Shape;409;p28"/>
            <p:cNvCxnSpPr/>
            <p:nvPr/>
          </p:nvCxnSpPr>
          <p:spPr>
            <a:xfrm>
              <a:off x="11406851" y="3661611"/>
              <a:ext cx="0" cy="1511624"/>
            </a:xfrm>
            <a:prstGeom prst="straightConnector1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01" name="圓角矩形 100"/>
            <p:cNvSpPr/>
            <p:nvPr/>
          </p:nvSpPr>
          <p:spPr>
            <a:xfrm>
              <a:off x="9701032" y="1590067"/>
              <a:ext cx="1190800" cy="211476"/>
            </a:xfrm>
            <a:prstGeom prst="roundRect">
              <a:avLst>
                <a:gd name="adj" fmla="val 26419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788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&lt;responds&gt;</a:t>
              </a:r>
            </a:p>
          </p:txBody>
        </p:sp>
        <p:sp>
          <p:nvSpPr>
            <p:cNvPr id="104" name="圓角矩形 103"/>
            <p:cNvSpPr/>
            <p:nvPr/>
          </p:nvSpPr>
          <p:spPr>
            <a:xfrm>
              <a:off x="10391362" y="3126782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105" name="圓角矩形 104"/>
            <p:cNvSpPr/>
            <p:nvPr/>
          </p:nvSpPr>
          <p:spPr>
            <a:xfrm>
              <a:off x="9877084" y="4627727"/>
              <a:ext cx="838697" cy="167636"/>
            </a:xfrm>
            <a:prstGeom prst="roundRect">
              <a:avLst>
                <a:gd name="adj" fmla="val 26419"/>
              </a:avLst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600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user query</a:t>
              </a:r>
            </a:p>
          </p:txBody>
        </p:sp>
        <p:sp>
          <p:nvSpPr>
            <p:cNvPr id="69" name="圓角矩形 68"/>
            <p:cNvSpPr/>
            <p:nvPr/>
          </p:nvSpPr>
          <p:spPr>
            <a:xfrm>
              <a:off x="9360355" y="4026849"/>
              <a:ext cx="1872155" cy="599673"/>
            </a:xfrm>
            <a:prstGeom prst="roundRect">
              <a:avLst>
                <a:gd name="adj" fmla="val 26419"/>
              </a:avLst>
            </a:prstGeom>
            <a:solidFill>
              <a:srgbClr val="A6CEE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TW" sz="1500" kern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Retriever</a:t>
              </a:r>
              <a:endParaRPr lang="en-US" altLang="zh-TW" sz="1500" dirty="0">
                <a:solidFill>
                  <a:schemeClr val="tx1"/>
                </a:solidFill>
                <a:sym typeface="Arial"/>
              </a:endParaRPr>
            </a:p>
          </p:txBody>
        </p:sp>
        <p:sp>
          <p:nvSpPr>
            <p:cNvPr id="75" name="流程圖: 磁碟 74"/>
            <p:cNvSpPr/>
            <p:nvPr/>
          </p:nvSpPr>
          <p:spPr>
            <a:xfrm>
              <a:off x="5929523" y="3901843"/>
              <a:ext cx="1495562" cy="779092"/>
            </a:xfrm>
            <a:prstGeom prst="flowChartMagneticDisk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0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Knowledge Base</a:t>
              </a:r>
              <a:endParaRPr lang="zh-TW" altLang="en-US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文字方塊 26"/>
          <p:cNvSpPr txBox="1"/>
          <p:nvPr/>
        </p:nvSpPr>
        <p:spPr>
          <a:xfrm>
            <a:off x="8683236" y="4713431"/>
            <a:ext cx="21427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" name="矩形 2"/>
          <p:cNvSpPr/>
          <p:nvPr/>
        </p:nvSpPr>
        <p:spPr>
          <a:xfrm>
            <a:off x="6057900" y="1780790"/>
            <a:ext cx="2979420" cy="2284279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 sz="1013"/>
          </a:p>
        </p:txBody>
      </p:sp>
    </p:spTree>
    <p:extLst>
      <p:ext uri="{BB962C8B-B14F-4D97-AF65-F5344CB8AC3E}">
        <p14:creationId xmlns:p14="http://schemas.microsoft.com/office/powerpoint/2010/main" val="1880489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025467" y="1279911"/>
            <a:ext cx="730890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zh-TW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Possible improvement ideas</a:t>
            </a:r>
          </a:p>
          <a:p>
            <a:endParaRPr lang="en-US" altLang="zh-TW" sz="21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with RAG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203171" y="296520"/>
            <a:ext cx="4108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818094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圖片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13" y="296520"/>
            <a:ext cx="6044372" cy="4638704"/>
          </a:xfrm>
          <a:prstGeom prst="rect">
            <a:avLst/>
          </a:prstGeom>
        </p:spPr>
      </p:pic>
      <p:sp>
        <p:nvSpPr>
          <p:cNvPr id="79" name="文字方塊 78"/>
          <p:cNvSpPr txBox="1"/>
          <p:nvPr/>
        </p:nvSpPr>
        <p:spPr>
          <a:xfrm>
            <a:off x="203171" y="296520"/>
            <a:ext cx="4108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with RAG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8683236" y="4713431"/>
            <a:ext cx="360752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62635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圖片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13" y="296520"/>
            <a:ext cx="6044372" cy="4638704"/>
          </a:xfrm>
          <a:prstGeom prst="rect">
            <a:avLst/>
          </a:prstGeom>
        </p:spPr>
      </p:pic>
      <p:sp>
        <p:nvSpPr>
          <p:cNvPr id="79" name="文字方塊 78"/>
          <p:cNvSpPr txBox="1"/>
          <p:nvPr/>
        </p:nvSpPr>
        <p:spPr>
          <a:xfrm>
            <a:off x="203171" y="296520"/>
            <a:ext cx="4108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with RAG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8683236" y="4713431"/>
            <a:ext cx="360752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" name="矩形 3"/>
          <p:cNvSpPr/>
          <p:nvPr/>
        </p:nvSpPr>
        <p:spPr>
          <a:xfrm>
            <a:off x="6618990" y="1600633"/>
            <a:ext cx="1279534" cy="182991"/>
          </a:xfrm>
          <a:prstGeom prst="rect">
            <a:avLst/>
          </a:prstGeom>
          <a:solidFill>
            <a:srgbClr val="D8BEE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create_model()</a:t>
            </a:r>
          </a:p>
        </p:txBody>
      </p:sp>
      <p:sp>
        <p:nvSpPr>
          <p:cNvPr id="35" name="矩形 34"/>
          <p:cNvSpPr/>
          <p:nvPr/>
        </p:nvSpPr>
        <p:spPr>
          <a:xfrm>
            <a:off x="6618989" y="3267928"/>
            <a:ext cx="2096187" cy="182991"/>
          </a:xfrm>
          <a:prstGeom prst="rect">
            <a:avLst/>
          </a:prstGeom>
          <a:solidFill>
            <a:srgbClr val="D8BEE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create_embedding_model()</a:t>
            </a:r>
          </a:p>
        </p:txBody>
      </p:sp>
      <p:sp>
        <p:nvSpPr>
          <p:cNvPr id="38" name="矩形 37"/>
          <p:cNvSpPr/>
          <p:nvPr/>
        </p:nvSpPr>
        <p:spPr>
          <a:xfrm>
            <a:off x="698509" y="3994283"/>
            <a:ext cx="2296939" cy="182991"/>
          </a:xfrm>
          <a:prstGeom prst="rect">
            <a:avLst/>
          </a:prstGeom>
          <a:solidFill>
            <a:srgbClr val="D8BEE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preprocess_pages2chunks()</a:t>
            </a:r>
          </a:p>
        </p:txBody>
      </p:sp>
      <p:sp>
        <p:nvSpPr>
          <p:cNvPr id="39" name="矩形 38"/>
          <p:cNvSpPr/>
          <p:nvPr/>
        </p:nvSpPr>
        <p:spPr>
          <a:xfrm>
            <a:off x="898534" y="4294739"/>
            <a:ext cx="1816288" cy="182991"/>
          </a:xfrm>
          <a:prstGeom prst="rect">
            <a:avLst/>
          </a:prstGeom>
          <a:solidFill>
            <a:srgbClr val="D8BEE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load_doc_from_path()</a:t>
            </a:r>
          </a:p>
        </p:txBody>
      </p:sp>
      <p:cxnSp>
        <p:nvCxnSpPr>
          <p:cNvPr id="18" name="直線接點 17"/>
          <p:cNvCxnSpPr/>
          <p:nvPr/>
        </p:nvCxnSpPr>
        <p:spPr>
          <a:xfrm>
            <a:off x="1762753" y="3895725"/>
            <a:ext cx="5895347" cy="0"/>
          </a:xfrm>
          <a:prstGeom prst="line">
            <a:avLst/>
          </a:prstGeom>
          <a:ln w="50800">
            <a:solidFill>
              <a:srgbClr val="B381D9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3805865" y="3744234"/>
            <a:ext cx="0" cy="151491"/>
          </a:xfrm>
          <a:prstGeom prst="line">
            <a:avLst/>
          </a:prstGeom>
          <a:ln w="50800">
            <a:solidFill>
              <a:srgbClr val="B381D9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7634915" y="3468277"/>
            <a:ext cx="0" cy="427448"/>
          </a:xfrm>
          <a:prstGeom prst="line">
            <a:avLst/>
          </a:prstGeom>
          <a:ln w="50800">
            <a:solidFill>
              <a:srgbClr val="B381D9"/>
            </a:solidFill>
            <a:prstDash val="sysDash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286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圖片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13" y="296520"/>
            <a:ext cx="6044372" cy="4638704"/>
          </a:xfrm>
          <a:prstGeom prst="rect">
            <a:avLst/>
          </a:prstGeom>
        </p:spPr>
      </p:pic>
      <p:sp>
        <p:nvSpPr>
          <p:cNvPr id="79" name="文字方塊 78"/>
          <p:cNvSpPr txBox="1"/>
          <p:nvPr/>
        </p:nvSpPr>
        <p:spPr>
          <a:xfrm>
            <a:off x="203171" y="296520"/>
            <a:ext cx="4108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with RAG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8683236" y="4713431"/>
            <a:ext cx="360752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" name="矩形 3"/>
          <p:cNvSpPr/>
          <p:nvPr/>
        </p:nvSpPr>
        <p:spPr>
          <a:xfrm>
            <a:off x="6618990" y="1600633"/>
            <a:ext cx="1342596" cy="182991"/>
          </a:xfrm>
          <a:prstGeom prst="rect">
            <a:avLst/>
          </a:prstGeom>
          <a:solidFill>
            <a:srgbClr val="D8BEE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create_model()</a:t>
            </a:r>
          </a:p>
        </p:txBody>
      </p:sp>
      <p:sp>
        <p:nvSpPr>
          <p:cNvPr id="35" name="矩形 34"/>
          <p:cNvSpPr/>
          <p:nvPr/>
        </p:nvSpPr>
        <p:spPr>
          <a:xfrm>
            <a:off x="6618990" y="3267928"/>
            <a:ext cx="2064246" cy="182991"/>
          </a:xfrm>
          <a:prstGeom prst="rect">
            <a:avLst/>
          </a:prstGeom>
          <a:solidFill>
            <a:srgbClr val="D8BEE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create_embedding_model()</a:t>
            </a:r>
          </a:p>
        </p:txBody>
      </p:sp>
      <p:sp>
        <p:nvSpPr>
          <p:cNvPr id="37" name="矩形 36"/>
          <p:cNvSpPr/>
          <p:nvPr/>
        </p:nvSpPr>
        <p:spPr>
          <a:xfrm>
            <a:off x="5251996" y="1303850"/>
            <a:ext cx="1028985" cy="1829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generate()</a:t>
            </a:r>
          </a:p>
        </p:txBody>
      </p:sp>
      <p:sp>
        <p:nvSpPr>
          <p:cNvPr id="38" name="矩形 37"/>
          <p:cNvSpPr/>
          <p:nvPr/>
        </p:nvSpPr>
        <p:spPr>
          <a:xfrm>
            <a:off x="698509" y="3994283"/>
            <a:ext cx="2120365" cy="182991"/>
          </a:xfrm>
          <a:prstGeom prst="rect">
            <a:avLst/>
          </a:prstGeom>
          <a:solidFill>
            <a:srgbClr val="D8BEE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preprocess_pages2chunks()</a:t>
            </a:r>
          </a:p>
        </p:txBody>
      </p:sp>
      <p:sp>
        <p:nvSpPr>
          <p:cNvPr id="39" name="矩形 38"/>
          <p:cNvSpPr/>
          <p:nvPr/>
        </p:nvSpPr>
        <p:spPr>
          <a:xfrm>
            <a:off x="898534" y="4294739"/>
            <a:ext cx="1759532" cy="182991"/>
          </a:xfrm>
          <a:prstGeom prst="rect">
            <a:avLst/>
          </a:prstGeom>
          <a:solidFill>
            <a:srgbClr val="D8BEE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load_doc_from_path()</a:t>
            </a:r>
          </a:p>
        </p:txBody>
      </p:sp>
      <p:sp>
        <p:nvSpPr>
          <p:cNvPr id="41" name="矩形 40"/>
          <p:cNvSpPr/>
          <p:nvPr/>
        </p:nvSpPr>
        <p:spPr>
          <a:xfrm>
            <a:off x="5117741" y="1834364"/>
            <a:ext cx="1163239" cy="1829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lm_template()</a:t>
            </a:r>
          </a:p>
        </p:txBody>
      </p:sp>
      <p:cxnSp>
        <p:nvCxnSpPr>
          <p:cNvPr id="15" name="直線接點 14"/>
          <p:cNvCxnSpPr/>
          <p:nvPr/>
        </p:nvCxnSpPr>
        <p:spPr>
          <a:xfrm>
            <a:off x="1762753" y="3895725"/>
            <a:ext cx="5895347" cy="0"/>
          </a:xfrm>
          <a:prstGeom prst="line">
            <a:avLst/>
          </a:prstGeom>
          <a:ln w="50800">
            <a:solidFill>
              <a:srgbClr val="B381D9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3805865" y="3744234"/>
            <a:ext cx="0" cy="151491"/>
          </a:xfrm>
          <a:prstGeom prst="line">
            <a:avLst/>
          </a:prstGeom>
          <a:ln w="50800">
            <a:solidFill>
              <a:srgbClr val="B381D9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7634915" y="3468277"/>
            <a:ext cx="0" cy="427448"/>
          </a:xfrm>
          <a:prstGeom prst="line">
            <a:avLst/>
          </a:prstGeom>
          <a:ln w="50800">
            <a:solidFill>
              <a:srgbClr val="B381D9"/>
            </a:solidFill>
            <a:prstDash val="sysDash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111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圖片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13" y="296520"/>
            <a:ext cx="6044372" cy="4638704"/>
          </a:xfrm>
          <a:prstGeom prst="rect">
            <a:avLst/>
          </a:prstGeom>
        </p:spPr>
      </p:pic>
      <p:sp>
        <p:nvSpPr>
          <p:cNvPr id="79" name="文字方塊 78"/>
          <p:cNvSpPr txBox="1"/>
          <p:nvPr/>
        </p:nvSpPr>
        <p:spPr>
          <a:xfrm>
            <a:off x="203171" y="296520"/>
            <a:ext cx="4108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with RAG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8683236" y="4713431"/>
            <a:ext cx="360752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" name="矩形 3"/>
          <p:cNvSpPr/>
          <p:nvPr/>
        </p:nvSpPr>
        <p:spPr>
          <a:xfrm>
            <a:off x="6618990" y="1600633"/>
            <a:ext cx="1282687" cy="182991"/>
          </a:xfrm>
          <a:prstGeom prst="rect">
            <a:avLst/>
          </a:prstGeom>
          <a:solidFill>
            <a:srgbClr val="D8BEE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create_model()</a:t>
            </a:r>
          </a:p>
        </p:txBody>
      </p:sp>
      <p:sp>
        <p:nvSpPr>
          <p:cNvPr id="35" name="矩形 34"/>
          <p:cNvSpPr/>
          <p:nvPr/>
        </p:nvSpPr>
        <p:spPr>
          <a:xfrm>
            <a:off x="6618989" y="3267928"/>
            <a:ext cx="2029969" cy="182991"/>
          </a:xfrm>
          <a:prstGeom prst="rect">
            <a:avLst/>
          </a:prstGeom>
          <a:solidFill>
            <a:srgbClr val="D8BEE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create_embedding_model()</a:t>
            </a:r>
          </a:p>
        </p:txBody>
      </p:sp>
      <p:sp>
        <p:nvSpPr>
          <p:cNvPr id="37" name="矩形 36"/>
          <p:cNvSpPr/>
          <p:nvPr/>
        </p:nvSpPr>
        <p:spPr>
          <a:xfrm>
            <a:off x="5251997" y="1303850"/>
            <a:ext cx="956464" cy="1829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generate()</a:t>
            </a:r>
          </a:p>
        </p:txBody>
      </p:sp>
      <p:sp>
        <p:nvSpPr>
          <p:cNvPr id="38" name="矩形 37"/>
          <p:cNvSpPr/>
          <p:nvPr/>
        </p:nvSpPr>
        <p:spPr>
          <a:xfrm>
            <a:off x="698509" y="3994283"/>
            <a:ext cx="2177121" cy="182991"/>
          </a:xfrm>
          <a:prstGeom prst="rect">
            <a:avLst/>
          </a:prstGeom>
          <a:solidFill>
            <a:srgbClr val="D8BEE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preprocess_pages2chunks()</a:t>
            </a:r>
          </a:p>
        </p:txBody>
      </p:sp>
      <p:sp>
        <p:nvSpPr>
          <p:cNvPr id="39" name="矩形 38"/>
          <p:cNvSpPr/>
          <p:nvPr/>
        </p:nvSpPr>
        <p:spPr>
          <a:xfrm>
            <a:off x="898533" y="4294739"/>
            <a:ext cx="1734307" cy="182991"/>
          </a:xfrm>
          <a:prstGeom prst="rect">
            <a:avLst/>
          </a:prstGeom>
          <a:solidFill>
            <a:srgbClr val="D8BEE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load_doc_from_path()</a:t>
            </a:r>
          </a:p>
        </p:txBody>
      </p:sp>
      <p:sp>
        <p:nvSpPr>
          <p:cNvPr id="40" name="矩形 39"/>
          <p:cNvSpPr/>
          <p:nvPr/>
        </p:nvSpPr>
        <p:spPr>
          <a:xfrm>
            <a:off x="2632841" y="3561243"/>
            <a:ext cx="2086559" cy="1829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retrieve_relevant_docs()</a:t>
            </a:r>
          </a:p>
        </p:txBody>
      </p:sp>
      <p:sp>
        <p:nvSpPr>
          <p:cNvPr id="41" name="矩形 40"/>
          <p:cNvSpPr/>
          <p:nvPr/>
        </p:nvSpPr>
        <p:spPr>
          <a:xfrm>
            <a:off x="5117742" y="1834364"/>
            <a:ext cx="1136170" cy="1829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lm_template()</a:t>
            </a:r>
          </a:p>
        </p:txBody>
      </p:sp>
      <p:sp>
        <p:nvSpPr>
          <p:cNvPr id="42" name="矩形 41"/>
          <p:cNvSpPr/>
          <p:nvPr/>
        </p:nvSpPr>
        <p:spPr>
          <a:xfrm>
            <a:off x="5018023" y="3503892"/>
            <a:ext cx="1403419" cy="1829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query_template()</a:t>
            </a:r>
          </a:p>
        </p:txBody>
      </p:sp>
      <p:sp>
        <p:nvSpPr>
          <p:cNvPr id="43" name="矩形 42"/>
          <p:cNvSpPr/>
          <p:nvPr/>
        </p:nvSpPr>
        <p:spPr>
          <a:xfrm>
            <a:off x="4950208" y="2244011"/>
            <a:ext cx="1471235" cy="1829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prompt_template()</a:t>
            </a:r>
          </a:p>
        </p:txBody>
      </p:sp>
      <p:sp>
        <p:nvSpPr>
          <p:cNvPr id="15" name="矩形 14"/>
          <p:cNvSpPr/>
          <p:nvPr/>
        </p:nvSpPr>
        <p:spPr>
          <a:xfrm>
            <a:off x="6831732" y="4713431"/>
            <a:ext cx="826367" cy="18299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rag_ask()</a:t>
            </a:r>
          </a:p>
        </p:txBody>
      </p:sp>
      <p:cxnSp>
        <p:nvCxnSpPr>
          <p:cNvPr id="16" name="直線接點 15"/>
          <p:cNvCxnSpPr/>
          <p:nvPr/>
        </p:nvCxnSpPr>
        <p:spPr>
          <a:xfrm>
            <a:off x="1762753" y="3895725"/>
            <a:ext cx="5895347" cy="0"/>
          </a:xfrm>
          <a:prstGeom prst="line">
            <a:avLst/>
          </a:prstGeom>
          <a:ln w="50800">
            <a:solidFill>
              <a:srgbClr val="B381D9"/>
            </a:solidFill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3805865" y="3744234"/>
            <a:ext cx="0" cy="151491"/>
          </a:xfrm>
          <a:prstGeom prst="line">
            <a:avLst/>
          </a:prstGeom>
          <a:ln w="50800">
            <a:solidFill>
              <a:srgbClr val="B381D9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7634915" y="3468277"/>
            <a:ext cx="0" cy="427448"/>
          </a:xfrm>
          <a:prstGeom prst="line">
            <a:avLst/>
          </a:prstGeom>
          <a:ln w="50800">
            <a:solidFill>
              <a:srgbClr val="B381D9"/>
            </a:solidFill>
            <a:prstDash val="sysDash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096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HW4 LLM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Requirements</a:t>
            </a:r>
            <a:endParaRPr b="1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</a:t>
            </a:r>
            <a:r>
              <a:rPr lang="zh-TW" b="1"/>
              <a:t>At least compare result with and without RAG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- Must have </a:t>
            </a:r>
            <a:r>
              <a:rPr lang="zh-TW" b="1"/>
              <a:t>evaluation metrics</a:t>
            </a:r>
            <a:r>
              <a:rPr lang="zh-TW"/>
              <a:t>: BLEU, ROUGE, BERTScore...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- Prepare your own dataset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2. Bonus: compare different models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3. Bonus: try different RAG pipeline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Submit and Grading</a:t>
            </a:r>
            <a:endParaRPr b="1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Jupyter notebook / code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2. Report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- Describe your dataset - 20% (</a:t>
            </a:r>
            <a:r>
              <a:rPr lang="zh-TW" u="sng">
                <a:solidFill>
                  <a:schemeClr val="hlink"/>
                </a:solidFill>
                <a:hlinkClick r:id="rId3"/>
              </a:rPr>
              <a:t>notebook example</a:t>
            </a:r>
            <a:r>
              <a:rPr lang="zh-TW"/>
              <a:t>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- Result without RAG - 20%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- Result with RAG - 20%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- Compare the result (w/o RAG) - 20%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- Bonus: Different model comparison - 10%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    - Bonus: Describe your own RAG pipeline / Compare with sample notebook - 10%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356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Access model weight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788" y="1017725"/>
            <a:ext cx="6548419" cy="382097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/>
          <p:nvPr/>
        </p:nvSpPr>
        <p:spPr>
          <a:xfrm>
            <a:off x="1768225" y="2145700"/>
            <a:ext cx="3167700" cy="1258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2351100" y="1781450"/>
            <a:ext cx="763800" cy="273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Access model weight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7413" y="1017725"/>
            <a:ext cx="5549163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/>
          <p:nvPr/>
        </p:nvSpPr>
        <p:spPr>
          <a:xfrm>
            <a:off x="2916125" y="4253875"/>
            <a:ext cx="3222900" cy="452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Access request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3188" y="1092875"/>
            <a:ext cx="637763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Run on colab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6655198" cy="45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7688" y="1571602"/>
            <a:ext cx="5308626" cy="35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/>
          <p:nvPr/>
        </p:nvSpPr>
        <p:spPr>
          <a:xfrm>
            <a:off x="6260500" y="1571600"/>
            <a:ext cx="966000" cy="2991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00" y="1181175"/>
            <a:ext cx="8657551" cy="31720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/>
          <p:nvPr/>
        </p:nvSpPr>
        <p:spPr>
          <a:xfrm>
            <a:off x="6988975" y="1759375"/>
            <a:ext cx="1688700" cy="629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588" y="1314749"/>
            <a:ext cx="7498824" cy="315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Referencies</a:t>
            </a:r>
            <a:endParaRPr b="1"/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Sentence transformers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4"/>
              </a:rPr>
              <a:t>LLM Models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2064</Words>
  <Application>Microsoft Office PowerPoint</Application>
  <PresentationFormat>如螢幕大小 (16:9)</PresentationFormat>
  <Paragraphs>540</Paragraphs>
  <Slides>35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Courier New</vt:lpstr>
      <vt:lpstr>Times New Roman</vt:lpstr>
      <vt:lpstr>Simple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HW4 LLM</vt:lpstr>
      <vt:lpstr>Requirements</vt:lpstr>
      <vt:lpstr>Submit and Grading</vt:lpstr>
      <vt:lpstr>Access model weight</vt:lpstr>
      <vt:lpstr>Access model weight</vt:lpstr>
      <vt:lpstr>Access request</vt:lpstr>
      <vt:lpstr>Run on colab</vt:lpstr>
      <vt:lpstr>PowerPoint 簡報</vt:lpstr>
      <vt:lpstr>PowerPoint 簡報</vt:lpstr>
      <vt:lpstr>Referencies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陳塏侖 CHEN, KAI-LUN</cp:lastModifiedBy>
  <cp:revision>3</cp:revision>
  <dcterms:modified xsi:type="dcterms:W3CDTF">2025-10-28T03:05:35Z</dcterms:modified>
</cp:coreProperties>
</file>